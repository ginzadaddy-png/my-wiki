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여는 슬라이드. 청중에게 오늘 다룰 주제를 명확히 전달. 스팀 = 그냥 올리면 되는 플랫폼이 아니라, 데이터와 관계 위에서 작동하는 시장이라는 톤으로 시작.</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여섯 단계로 진행. 시장 지형 → 위시리스트 → 데모 → 스토어 페이지 → 출시·커뮤니티 → 인사이트.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오늘의 큰 메시지를 먼저 박는다. 마케팅 = 광고 집행이 아니라 관계 자본의 누적. 출시일이 마케팅의 시작점이 아니라 정산 시점일 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2022년부터 2025년까지 가격대별 수익 변화. $30~50 구간이 +195%로 가장 빠른 성장. 미드 프라이스 스위트 스팟.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가격은 단순한 숫자가 아니라 메시지. 장르 평균 이하로 내리면 품질 의심을 산다. $40은 플레이어의 시간을 존중하는 포지션으로 읽힌다.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위시리스트는 밸브 달러 — 통화처럼 작동. 수가 많다고 좋은 게 아니라 질이 중요. 자발적 70% 미만이면 출시 전환율 무너진다.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크리스 주코프스키 GDC 25 핵심: 모든 마케팅 활동은 데모에 비하면 미미하다. 데모가 마케팅의 본체.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2025-2026 넥스트 페스트 정량 분석. 사전 위시리스트와 행사 성과 상관관계 r=0.825 — 가장 강력한 단일 예측 변수.</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스토어 페이지 = 출시 후 꾸미는 전시 공간이 아니라 개발과 동시에 설계하는 첫 마케팅 무대.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GDC 24 크리스 주코프스키 핵심 통찰: 스팀은 사실상 두 개의 다른 시장. 진입 임계점은 출시 후 6~9개월 내 $260K. 두 시장 플레이북이 완전히 다르다.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2026년의 특수성. GTA 6가 11월 19일 출시 — 연도를 양분. Q2(4~6월)가 황금 런치 윈도우.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민트로켓·데이브 더 다이버 사례. Discord에서 개발자가 직접 답변. 채널마다 다른 거리감 유지.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Airbridge × Liquid Advertising 보고서. 아시아 스튜디오가 자주 놓치는 3개 채널.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오늘의 종합. 여섯 원칙을 한 화면에 정리.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마무리. 청중에게 감사 인사. Q&amp;A로 자연스럽게 전환.</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3A5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8A45C"/>
          </a:solidFill>
          <a:ln w="12700">
            <a:solidFill>
              <a:srgbClr val="C8A45C"/>
            </a:solidFill>
            <a:prstDash val="solid"/>
          </a:ln>
        </p:spPr>
      </p:sp>
      <p:sp>
        <p:nvSpPr>
          <p:cNvPr id="3" name="Text 1"/>
          <p:cNvSpPr/>
          <p:nvPr/>
        </p:nvSpPr>
        <p:spPr>
          <a:xfrm>
            <a:off x="640080" y="1371600"/>
            <a:ext cx="7863840" cy="320040"/>
          </a:xfrm>
          <a:prstGeom prst="rect">
            <a:avLst/>
          </a:prstGeom>
          <a:noFill/>
          <a:ln/>
        </p:spPr>
        <p:txBody>
          <a:bodyPr wrap="square" lIns="0" tIns="0" rIns="0" bIns="0" rtlCol="0" anchor="ctr"/>
          <a:lstStyle/>
          <a:p>
            <a:pPr algn="ctr" indent="0" marL="0">
              <a:buNone/>
            </a:pPr>
            <a:r>
              <a:rPr lang="en-US" sz="1300" b="1" spc="600" kern="0" dirty="0">
                <a:solidFill>
                  <a:srgbClr val="C8A45C"/>
                </a:solidFill>
                <a:latin typeface="Noto Sans KR" pitchFamily="34" charset="0"/>
                <a:ea typeface="Noto Sans KR" pitchFamily="34" charset="-122"/>
                <a:cs typeface="Noto Sans KR" pitchFamily="34" charset="-120"/>
              </a:rPr>
              <a:t>MARKETING PLAYBOOK</a:t>
            </a:r>
            <a:endParaRPr lang="en-US" sz="1300" dirty="0"/>
          </a:p>
        </p:txBody>
      </p:sp>
      <p:sp>
        <p:nvSpPr>
          <p:cNvPr id="4" name="Text 2"/>
          <p:cNvSpPr/>
          <p:nvPr/>
        </p:nvSpPr>
        <p:spPr>
          <a:xfrm>
            <a:off x="640080" y="1828800"/>
            <a:ext cx="7863840" cy="868680"/>
          </a:xfrm>
          <a:prstGeom prst="rect">
            <a:avLst/>
          </a:prstGeom>
          <a:noFill/>
          <a:ln/>
        </p:spPr>
        <p:txBody>
          <a:bodyPr wrap="square" lIns="0" tIns="0" rIns="0" bIns="0" rtlCol="0" anchor="ctr"/>
          <a:lstStyle/>
          <a:p>
            <a:pPr algn="ctr" indent="0" marL="0">
              <a:buNone/>
            </a:pPr>
            <a:r>
              <a:rPr lang="en-US" sz="4400" b="1" dirty="0">
                <a:solidFill>
                  <a:srgbClr val="FFFFFF"/>
                </a:solidFill>
                <a:latin typeface="Noto Sans KR" pitchFamily="34" charset="0"/>
                <a:ea typeface="Noto Sans KR" pitchFamily="34" charset="-122"/>
                <a:cs typeface="Noto Sans KR" pitchFamily="34" charset="-120"/>
              </a:rPr>
              <a:t>스팀 마케팅 전략</a:t>
            </a:r>
            <a:endParaRPr lang="en-US" sz="4400" dirty="0"/>
          </a:p>
        </p:txBody>
      </p:sp>
      <p:sp>
        <p:nvSpPr>
          <p:cNvPr id="5" name="Shape 3"/>
          <p:cNvSpPr/>
          <p:nvPr/>
        </p:nvSpPr>
        <p:spPr>
          <a:xfrm>
            <a:off x="4297680" y="2788920"/>
            <a:ext cx="548640" cy="36576"/>
          </a:xfrm>
          <a:prstGeom prst="rect">
            <a:avLst/>
          </a:prstGeom>
          <a:solidFill>
            <a:srgbClr val="C8A45C"/>
          </a:solidFill>
          <a:ln w="12700">
            <a:solidFill>
              <a:srgbClr val="C8A45C"/>
            </a:solidFill>
            <a:prstDash val="solid"/>
          </a:ln>
        </p:spPr>
      </p:sp>
      <p:sp>
        <p:nvSpPr>
          <p:cNvPr id="6" name="Text 4"/>
          <p:cNvSpPr/>
          <p:nvPr/>
        </p:nvSpPr>
        <p:spPr>
          <a:xfrm>
            <a:off x="640080" y="2971800"/>
            <a:ext cx="7863840" cy="1005840"/>
          </a:xfrm>
          <a:prstGeom prst="rect">
            <a:avLst/>
          </a:prstGeom>
          <a:noFill/>
          <a:ln/>
        </p:spPr>
        <p:txBody>
          <a:bodyPr wrap="square" lIns="0" tIns="0" rIns="0" bIns="0" rtlCol="0" anchor="t"/>
          <a:lstStyle/>
          <a:p>
            <a:pPr algn="ctr" indent="0" marL="0">
              <a:spcAft>
                <a:spcPts val="400"/>
              </a:spcAft>
              <a:buNone/>
            </a:pPr>
            <a:r>
              <a:rPr lang="en-US" sz="1800" dirty="0">
                <a:solidFill>
                  <a:srgbClr val="D0D5DC"/>
                </a:solidFill>
                <a:latin typeface="Noto Sans KR" pitchFamily="34" charset="0"/>
                <a:ea typeface="Noto Sans KR" pitchFamily="34" charset="-122"/>
                <a:cs typeface="Noto Sans KR" pitchFamily="34" charset="-120"/>
              </a:rPr>
              <a:t>위시리스트부터 출시까지</a:t>
            </a:r>
            <a:endParaRPr lang="en-US" sz="1800" dirty="0"/>
          </a:p>
          <a:p>
            <a:pPr algn="ctr" indent="0" marL="0">
              <a:spcAft>
                <a:spcPts val="400"/>
              </a:spcAft>
              <a:buNone/>
            </a:pPr>
            <a:r>
              <a:rPr lang="en-US" sz="1800" dirty="0">
                <a:solidFill>
                  <a:srgbClr val="D0D5DC"/>
                </a:solidFill>
                <a:latin typeface="Noto Sans KR" pitchFamily="34" charset="0"/>
                <a:ea typeface="Noto Sans KR" pitchFamily="34" charset="-122"/>
                <a:cs typeface="Noto Sans KR" pitchFamily="34" charset="-120"/>
              </a:rPr>
              <a:t>데이터로 본 6가지 원칙</a:t>
            </a:r>
            <a:endParaRPr lang="en-US" sz="1800" dirty="0"/>
          </a:p>
        </p:txBody>
      </p:sp>
      <p:sp>
        <p:nvSpPr>
          <p:cNvPr id="7" name="Text 5"/>
          <p:cNvSpPr/>
          <p:nvPr/>
        </p:nvSpPr>
        <p:spPr>
          <a:xfrm>
            <a:off x="640080" y="4617720"/>
            <a:ext cx="7863840" cy="274320"/>
          </a:xfrm>
          <a:prstGeom prst="rect">
            <a:avLst/>
          </a:prstGeom>
          <a:noFill/>
          <a:ln/>
        </p:spPr>
        <p:txBody>
          <a:bodyPr wrap="square" lIns="0" tIns="0" rIns="0" bIns="0" rtlCol="0" anchor="ctr"/>
          <a:lstStyle/>
          <a:p>
            <a:pPr algn="ctr" indent="0" marL="0">
              <a:buNone/>
            </a:pPr>
            <a:r>
              <a:rPr lang="en-US" sz="1100" spc="200" kern="0" dirty="0">
                <a:solidFill>
                  <a:srgbClr val="8A93A0"/>
                </a:solidFill>
                <a:latin typeface="Consolas" pitchFamily="34" charset="0"/>
                <a:ea typeface="Consolas" pitchFamily="34" charset="-122"/>
                <a:cs typeface="Consolas" pitchFamily="34" charset="-120"/>
              </a:rPr>
              <a:t>2026.05.07</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7863840" cy="457200"/>
          </a:xfrm>
          <a:prstGeom prst="rect">
            <a:avLst/>
          </a:prstGeom>
          <a:noFill/>
          <a:ln/>
        </p:spPr>
        <p:txBody>
          <a:bodyPr wrap="square" lIns="0" tIns="0" rIns="0" bIns="0" rtlCol="0" anchor="t"/>
          <a:lstStyle/>
          <a:p>
            <a:pPr algn="l" indent="0" marL="0">
              <a:buNone/>
            </a:pPr>
            <a:r>
              <a:rPr lang="en-US" sz="2600" b="1" dirty="0">
                <a:solidFill>
                  <a:srgbClr val="1E3A5F"/>
                </a:solidFill>
                <a:latin typeface="Noto Sans KR" pitchFamily="34" charset="0"/>
                <a:ea typeface="Noto Sans KR" pitchFamily="34" charset="-122"/>
                <a:cs typeface="Noto Sans KR" pitchFamily="34" charset="-120"/>
              </a:rPr>
              <a:t>Agenda</a:t>
            </a:r>
            <a:endParaRPr lang="en-US" sz="2600" dirty="0"/>
          </a:p>
        </p:txBody>
      </p:sp>
      <p:sp>
        <p:nvSpPr>
          <p:cNvPr id="3" name="Shape 1"/>
          <p:cNvSpPr/>
          <p:nvPr/>
        </p:nvSpPr>
        <p:spPr>
          <a:xfrm>
            <a:off x="640080" y="886968"/>
            <a:ext cx="658368" cy="22860"/>
          </a:xfrm>
          <a:prstGeom prst="rect">
            <a:avLst/>
          </a:prstGeom>
          <a:solidFill>
            <a:srgbClr val="C8A45C"/>
          </a:solidFill>
          <a:ln w="12700">
            <a:solidFill>
              <a:srgbClr val="C8A45C"/>
            </a:solidFill>
            <a:prstDash val="solid"/>
          </a:ln>
        </p:spPr>
      </p:sp>
      <p:sp>
        <p:nvSpPr>
          <p:cNvPr id="4" name="Text 2"/>
          <p:cNvSpPr/>
          <p:nvPr/>
        </p:nvSpPr>
        <p:spPr>
          <a:xfrm>
            <a:off x="822960" y="1371600"/>
            <a:ext cx="457200" cy="411480"/>
          </a:xfrm>
          <a:prstGeom prst="rect">
            <a:avLst/>
          </a:prstGeom>
          <a:noFill/>
          <a:ln/>
        </p:spPr>
        <p:txBody>
          <a:bodyPr wrap="square" lIns="0" tIns="0" rIns="0" bIns="0" rtlCol="0" anchor="ctr"/>
          <a:lstStyle/>
          <a:p>
            <a:pPr indent="0" marL="0">
              <a:buNone/>
            </a:pPr>
            <a:r>
              <a:rPr lang="en-US" sz="1400" b="1" dirty="0">
                <a:solidFill>
                  <a:srgbClr val="C8A45C"/>
                </a:solidFill>
                <a:latin typeface="Consolas" pitchFamily="34" charset="0"/>
                <a:ea typeface="Consolas" pitchFamily="34" charset="-122"/>
                <a:cs typeface="Consolas" pitchFamily="34" charset="-120"/>
              </a:rPr>
              <a:t>01</a:t>
            </a:r>
            <a:endParaRPr lang="en-US" sz="1400" dirty="0"/>
          </a:p>
        </p:txBody>
      </p:sp>
      <p:sp>
        <p:nvSpPr>
          <p:cNvPr id="5" name="Text 3"/>
          <p:cNvSpPr/>
          <p:nvPr/>
        </p:nvSpPr>
        <p:spPr>
          <a:xfrm>
            <a:off x="1417320" y="1371600"/>
            <a:ext cx="7086600" cy="411480"/>
          </a:xfrm>
          <a:prstGeom prst="rect">
            <a:avLst/>
          </a:prstGeom>
          <a:noFill/>
          <a:ln/>
        </p:spPr>
        <p:txBody>
          <a:bodyPr wrap="square" lIns="0" tIns="0" rIns="0" bIns="0" rtlCol="0" anchor="ctr"/>
          <a:lstStyle/>
          <a:p>
            <a:pPr indent="0" marL="0">
              <a:buNone/>
            </a:pPr>
            <a:r>
              <a:rPr lang="en-US" sz="1700" dirty="0">
                <a:solidFill>
                  <a:srgbClr val="333333"/>
                </a:solidFill>
                <a:latin typeface="Noto Sans KR" pitchFamily="34" charset="0"/>
                <a:ea typeface="Noto Sans KR" pitchFamily="34" charset="-122"/>
                <a:cs typeface="Noto Sans KR" pitchFamily="34" charset="-120"/>
              </a:rPr>
              <a:t>시장 지형 — 가격대 변화</a:t>
            </a:r>
            <a:endParaRPr lang="en-US" sz="1700" dirty="0"/>
          </a:p>
        </p:txBody>
      </p:sp>
      <p:sp>
        <p:nvSpPr>
          <p:cNvPr id="6" name="Shape 4"/>
          <p:cNvSpPr/>
          <p:nvPr/>
        </p:nvSpPr>
        <p:spPr>
          <a:xfrm>
            <a:off x="640080" y="1828800"/>
            <a:ext cx="7863840" cy="0"/>
          </a:xfrm>
          <a:prstGeom prst="line">
            <a:avLst/>
          </a:prstGeom>
          <a:noFill/>
          <a:ln w="6350">
            <a:solidFill>
              <a:srgbClr val="E0E3E8"/>
            </a:solidFill>
            <a:prstDash val="solid"/>
          </a:ln>
        </p:spPr>
      </p:sp>
      <p:sp>
        <p:nvSpPr>
          <p:cNvPr id="7" name="Text 5"/>
          <p:cNvSpPr/>
          <p:nvPr/>
        </p:nvSpPr>
        <p:spPr>
          <a:xfrm>
            <a:off x="822960" y="1874520"/>
            <a:ext cx="457200" cy="411480"/>
          </a:xfrm>
          <a:prstGeom prst="rect">
            <a:avLst/>
          </a:prstGeom>
          <a:noFill/>
          <a:ln/>
        </p:spPr>
        <p:txBody>
          <a:bodyPr wrap="square" lIns="0" tIns="0" rIns="0" bIns="0" rtlCol="0" anchor="ctr"/>
          <a:lstStyle/>
          <a:p>
            <a:pPr indent="0" marL="0">
              <a:buNone/>
            </a:pPr>
            <a:r>
              <a:rPr lang="en-US" sz="1400" b="1" dirty="0">
                <a:solidFill>
                  <a:srgbClr val="C8A45C"/>
                </a:solidFill>
                <a:latin typeface="Consolas" pitchFamily="34" charset="0"/>
                <a:ea typeface="Consolas" pitchFamily="34" charset="-122"/>
                <a:cs typeface="Consolas" pitchFamily="34" charset="-120"/>
              </a:rPr>
              <a:t>02</a:t>
            </a:r>
            <a:endParaRPr lang="en-US" sz="1400" dirty="0"/>
          </a:p>
        </p:txBody>
      </p:sp>
      <p:sp>
        <p:nvSpPr>
          <p:cNvPr id="8" name="Text 6"/>
          <p:cNvSpPr/>
          <p:nvPr/>
        </p:nvSpPr>
        <p:spPr>
          <a:xfrm>
            <a:off x="1417320" y="1874520"/>
            <a:ext cx="7086600" cy="411480"/>
          </a:xfrm>
          <a:prstGeom prst="rect">
            <a:avLst/>
          </a:prstGeom>
          <a:noFill/>
          <a:ln/>
        </p:spPr>
        <p:txBody>
          <a:bodyPr wrap="square" lIns="0" tIns="0" rIns="0" bIns="0" rtlCol="0" anchor="ctr"/>
          <a:lstStyle/>
          <a:p>
            <a:pPr indent="0" marL="0">
              <a:buNone/>
            </a:pPr>
            <a:r>
              <a:rPr lang="en-US" sz="1700" dirty="0">
                <a:solidFill>
                  <a:srgbClr val="333333"/>
                </a:solidFill>
                <a:latin typeface="Noto Sans KR" pitchFamily="34" charset="0"/>
                <a:ea typeface="Noto Sans KR" pitchFamily="34" charset="-122"/>
                <a:cs typeface="Noto Sans KR" pitchFamily="34" charset="-120"/>
              </a:rPr>
              <a:t>위시리스트 경제학</a:t>
            </a:r>
            <a:endParaRPr lang="en-US" sz="1700" dirty="0"/>
          </a:p>
        </p:txBody>
      </p:sp>
      <p:sp>
        <p:nvSpPr>
          <p:cNvPr id="9" name="Shape 7"/>
          <p:cNvSpPr/>
          <p:nvPr/>
        </p:nvSpPr>
        <p:spPr>
          <a:xfrm>
            <a:off x="640080" y="2331720"/>
            <a:ext cx="7863840" cy="0"/>
          </a:xfrm>
          <a:prstGeom prst="line">
            <a:avLst/>
          </a:prstGeom>
          <a:noFill/>
          <a:ln w="6350">
            <a:solidFill>
              <a:srgbClr val="E0E3E8"/>
            </a:solidFill>
            <a:prstDash val="solid"/>
          </a:ln>
        </p:spPr>
      </p:sp>
      <p:sp>
        <p:nvSpPr>
          <p:cNvPr id="10" name="Text 8"/>
          <p:cNvSpPr/>
          <p:nvPr/>
        </p:nvSpPr>
        <p:spPr>
          <a:xfrm>
            <a:off x="822960" y="2377440"/>
            <a:ext cx="457200" cy="411480"/>
          </a:xfrm>
          <a:prstGeom prst="rect">
            <a:avLst/>
          </a:prstGeom>
          <a:noFill/>
          <a:ln/>
        </p:spPr>
        <p:txBody>
          <a:bodyPr wrap="square" lIns="0" tIns="0" rIns="0" bIns="0" rtlCol="0" anchor="ctr"/>
          <a:lstStyle/>
          <a:p>
            <a:pPr indent="0" marL="0">
              <a:buNone/>
            </a:pPr>
            <a:r>
              <a:rPr lang="en-US" sz="1400" b="1" dirty="0">
                <a:solidFill>
                  <a:srgbClr val="C8A45C"/>
                </a:solidFill>
                <a:latin typeface="Consolas" pitchFamily="34" charset="0"/>
                <a:ea typeface="Consolas" pitchFamily="34" charset="-122"/>
                <a:cs typeface="Consolas" pitchFamily="34" charset="-120"/>
              </a:rPr>
              <a:t>03</a:t>
            </a:r>
            <a:endParaRPr lang="en-US" sz="1400" dirty="0"/>
          </a:p>
        </p:txBody>
      </p:sp>
      <p:sp>
        <p:nvSpPr>
          <p:cNvPr id="11" name="Text 9"/>
          <p:cNvSpPr/>
          <p:nvPr/>
        </p:nvSpPr>
        <p:spPr>
          <a:xfrm>
            <a:off x="1417320" y="2377440"/>
            <a:ext cx="7086600" cy="411480"/>
          </a:xfrm>
          <a:prstGeom prst="rect">
            <a:avLst/>
          </a:prstGeom>
          <a:noFill/>
          <a:ln/>
        </p:spPr>
        <p:txBody>
          <a:bodyPr wrap="square" lIns="0" tIns="0" rIns="0" bIns="0" rtlCol="0" anchor="ctr"/>
          <a:lstStyle/>
          <a:p>
            <a:pPr indent="0" marL="0">
              <a:buNone/>
            </a:pPr>
            <a:r>
              <a:rPr lang="en-US" sz="1700" dirty="0">
                <a:solidFill>
                  <a:srgbClr val="333333"/>
                </a:solidFill>
                <a:latin typeface="Noto Sans KR" pitchFamily="34" charset="0"/>
                <a:ea typeface="Noto Sans KR" pitchFamily="34" charset="-122"/>
                <a:cs typeface="Noto Sans KR" pitchFamily="34" charset="-120"/>
              </a:rPr>
              <a:t>데모와 넥스트 페스트</a:t>
            </a:r>
            <a:endParaRPr lang="en-US" sz="1700" dirty="0"/>
          </a:p>
        </p:txBody>
      </p:sp>
      <p:sp>
        <p:nvSpPr>
          <p:cNvPr id="12" name="Shape 10"/>
          <p:cNvSpPr/>
          <p:nvPr/>
        </p:nvSpPr>
        <p:spPr>
          <a:xfrm>
            <a:off x="640080" y="2834640"/>
            <a:ext cx="7863840" cy="0"/>
          </a:xfrm>
          <a:prstGeom prst="line">
            <a:avLst/>
          </a:prstGeom>
          <a:noFill/>
          <a:ln w="6350">
            <a:solidFill>
              <a:srgbClr val="E0E3E8"/>
            </a:solidFill>
            <a:prstDash val="solid"/>
          </a:ln>
        </p:spPr>
      </p:sp>
      <p:sp>
        <p:nvSpPr>
          <p:cNvPr id="13" name="Text 11"/>
          <p:cNvSpPr/>
          <p:nvPr/>
        </p:nvSpPr>
        <p:spPr>
          <a:xfrm>
            <a:off x="822960" y="2880360"/>
            <a:ext cx="457200" cy="411480"/>
          </a:xfrm>
          <a:prstGeom prst="rect">
            <a:avLst/>
          </a:prstGeom>
          <a:noFill/>
          <a:ln/>
        </p:spPr>
        <p:txBody>
          <a:bodyPr wrap="square" lIns="0" tIns="0" rIns="0" bIns="0" rtlCol="0" anchor="ctr"/>
          <a:lstStyle/>
          <a:p>
            <a:pPr indent="0" marL="0">
              <a:buNone/>
            </a:pPr>
            <a:r>
              <a:rPr lang="en-US" sz="1400" b="1" dirty="0">
                <a:solidFill>
                  <a:srgbClr val="C8A45C"/>
                </a:solidFill>
                <a:latin typeface="Consolas" pitchFamily="34" charset="0"/>
                <a:ea typeface="Consolas" pitchFamily="34" charset="-122"/>
                <a:cs typeface="Consolas" pitchFamily="34" charset="-120"/>
              </a:rPr>
              <a:t>04</a:t>
            </a:r>
            <a:endParaRPr lang="en-US" sz="1400" dirty="0"/>
          </a:p>
        </p:txBody>
      </p:sp>
      <p:sp>
        <p:nvSpPr>
          <p:cNvPr id="14" name="Text 12"/>
          <p:cNvSpPr/>
          <p:nvPr/>
        </p:nvSpPr>
        <p:spPr>
          <a:xfrm>
            <a:off x="1417320" y="2880360"/>
            <a:ext cx="7086600" cy="411480"/>
          </a:xfrm>
          <a:prstGeom prst="rect">
            <a:avLst/>
          </a:prstGeom>
          <a:noFill/>
          <a:ln/>
        </p:spPr>
        <p:txBody>
          <a:bodyPr wrap="square" lIns="0" tIns="0" rIns="0" bIns="0" rtlCol="0" anchor="ctr"/>
          <a:lstStyle/>
          <a:p>
            <a:pPr indent="0" marL="0">
              <a:buNone/>
            </a:pPr>
            <a:r>
              <a:rPr lang="en-US" sz="1700" dirty="0">
                <a:solidFill>
                  <a:srgbClr val="333333"/>
                </a:solidFill>
                <a:latin typeface="Noto Sans KR" pitchFamily="34" charset="0"/>
                <a:ea typeface="Noto Sans KR" pitchFamily="34" charset="-122"/>
                <a:cs typeface="Noto Sans KR" pitchFamily="34" charset="-120"/>
              </a:rPr>
              <a:t>스토어 페이지 최적화</a:t>
            </a:r>
            <a:endParaRPr lang="en-US" sz="1700" dirty="0"/>
          </a:p>
        </p:txBody>
      </p:sp>
      <p:sp>
        <p:nvSpPr>
          <p:cNvPr id="15" name="Shape 13"/>
          <p:cNvSpPr/>
          <p:nvPr/>
        </p:nvSpPr>
        <p:spPr>
          <a:xfrm>
            <a:off x="640080" y="3337560"/>
            <a:ext cx="7863840" cy="0"/>
          </a:xfrm>
          <a:prstGeom prst="line">
            <a:avLst/>
          </a:prstGeom>
          <a:noFill/>
          <a:ln w="6350">
            <a:solidFill>
              <a:srgbClr val="E0E3E8"/>
            </a:solidFill>
            <a:prstDash val="solid"/>
          </a:ln>
        </p:spPr>
      </p:sp>
      <p:sp>
        <p:nvSpPr>
          <p:cNvPr id="16" name="Text 14"/>
          <p:cNvSpPr/>
          <p:nvPr/>
        </p:nvSpPr>
        <p:spPr>
          <a:xfrm>
            <a:off x="822960" y="3383280"/>
            <a:ext cx="457200" cy="411480"/>
          </a:xfrm>
          <a:prstGeom prst="rect">
            <a:avLst/>
          </a:prstGeom>
          <a:noFill/>
          <a:ln/>
        </p:spPr>
        <p:txBody>
          <a:bodyPr wrap="square" lIns="0" tIns="0" rIns="0" bIns="0" rtlCol="0" anchor="ctr"/>
          <a:lstStyle/>
          <a:p>
            <a:pPr indent="0" marL="0">
              <a:buNone/>
            </a:pPr>
            <a:r>
              <a:rPr lang="en-US" sz="1400" b="1" dirty="0">
                <a:solidFill>
                  <a:srgbClr val="C8A45C"/>
                </a:solidFill>
                <a:latin typeface="Consolas" pitchFamily="34" charset="0"/>
                <a:ea typeface="Consolas" pitchFamily="34" charset="-122"/>
                <a:cs typeface="Consolas" pitchFamily="34" charset="-120"/>
              </a:rPr>
              <a:t>05</a:t>
            </a:r>
            <a:endParaRPr lang="en-US" sz="1400" dirty="0"/>
          </a:p>
        </p:txBody>
      </p:sp>
      <p:sp>
        <p:nvSpPr>
          <p:cNvPr id="17" name="Text 15"/>
          <p:cNvSpPr/>
          <p:nvPr/>
        </p:nvSpPr>
        <p:spPr>
          <a:xfrm>
            <a:off x="1417320" y="3383280"/>
            <a:ext cx="7086600" cy="411480"/>
          </a:xfrm>
          <a:prstGeom prst="rect">
            <a:avLst/>
          </a:prstGeom>
          <a:noFill/>
          <a:ln/>
        </p:spPr>
        <p:txBody>
          <a:bodyPr wrap="square" lIns="0" tIns="0" rIns="0" bIns="0" rtlCol="0" anchor="ctr"/>
          <a:lstStyle/>
          <a:p>
            <a:pPr indent="0" marL="0">
              <a:buNone/>
            </a:pPr>
            <a:r>
              <a:rPr lang="en-US" sz="1700" dirty="0">
                <a:solidFill>
                  <a:srgbClr val="333333"/>
                </a:solidFill>
                <a:latin typeface="Noto Sans KR" pitchFamily="34" charset="0"/>
                <a:ea typeface="Noto Sans KR" pitchFamily="34" charset="-122"/>
                <a:cs typeface="Noto Sans KR" pitchFamily="34" charset="-120"/>
              </a:rPr>
              <a:t>출시 + 커뮤니티 운영</a:t>
            </a:r>
            <a:endParaRPr lang="en-US" sz="1700" dirty="0"/>
          </a:p>
        </p:txBody>
      </p:sp>
      <p:sp>
        <p:nvSpPr>
          <p:cNvPr id="18" name="Shape 16"/>
          <p:cNvSpPr/>
          <p:nvPr/>
        </p:nvSpPr>
        <p:spPr>
          <a:xfrm>
            <a:off x="640080" y="3840480"/>
            <a:ext cx="7863840" cy="0"/>
          </a:xfrm>
          <a:prstGeom prst="line">
            <a:avLst/>
          </a:prstGeom>
          <a:noFill/>
          <a:ln w="6350">
            <a:solidFill>
              <a:srgbClr val="E0E3E8"/>
            </a:solidFill>
            <a:prstDash val="solid"/>
          </a:ln>
        </p:spPr>
      </p:sp>
      <p:sp>
        <p:nvSpPr>
          <p:cNvPr id="19" name="Text 17"/>
          <p:cNvSpPr/>
          <p:nvPr/>
        </p:nvSpPr>
        <p:spPr>
          <a:xfrm>
            <a:off x="822960" y="3886200"/>
            <a:ext cx="457200" cy="411480"/>
          </a:xfrm>
          <a:prstGeom prst="rect">
            <a:avLst/>
          </a:prstGeom>
          <a:noFill/>
          <a:ln/>
        </p:spPr>
        <p:txBody>
          <a:bodyPr wrap="square" lIns="0" tIns="0" rIns="0" bIns="0" rtlCol="0" anchor="ctr"/>
          <a:lstStyle/>
          <a:p>
            <a:pPr indent="0" marL="0">
              <a:buNone/>
            </a:pPr>
            <a:r>
              <a:rPr lang="en-US" sz="1400" b="1" dirty="0">
                <a:solidFill>
                  <a:srgbClr val="C8A45C"/>
                </a:solidFill>
                <a:latin typeface="Consolas" pitchFamily="34" charset="0"/>
                <a:ea typeface="Consolas" pitchFamily="34" charset="-122"/>
                <a:cs typeface="Consolas" pitchFamily="34" charset="-120"/>
              </a:rPr>
              <a:t>06</a:t>
            </a:r>
            <a:endParaRPr lang="en-US" sz="1400" dirty="0"/>
          </a:p>
        </p:txBody>
      </p:sp>
      <p:sp>
        <p:nvSpPr>
          <p:cNvPr id="20" name="Text 18"/>
          <p:cNvSpPr/>
          <p:nvPr/>
        </p:nvSpPr>
        <p:spPr>
          <a:xfrm>
            <a:off x="1417320" y="3886200"/>
            <a:ext cx="7086600" cy="411480"/>
          </a:xfrm>
          <a:prstGeom prst="rect">
            <a:avLst/>
          </a:prstGeom>
          <a:noFill/>
          <a:ln/>
        </p:spPr>
        <p:txBody>
          <a:bodyPr wrap="square" lIns="0" tIns="0" rIns="0" bIns="0" rtlCol="0" anchor="ctr"/>
          <a:lstStyle/>
          <a:p>
            <a:pPr indent="0" marL="0">
              <a:buNone/>
            </a:pPr>
            <a:r>
              <a:rPr lang="en-US" sz="1700" dirty="0">
                <a:solidFill>
                  <a:srgbClr val="333333"/>
                </a:solidFill>
                <a:latin typeface="Noto Sans KR" pitchFamily="34" charset="0"/>
                <a:ea typeface="Noto Sans KR" pitchFamily="34" charset="-122"/>
                <a:cs typeface="Noto Sans KR" pitchFamily="34" charset="-120"/>
              </a:rPr>
              <a:t>핵심 인사이트</a:t>
            </a:r>
            <a:endParaRPr lang="en-US" sz="1700" dirty="0"/>
          </a:p>
        </p:txBody>
      </p:sp>
      <p:sp>
        <p:nvSpPr>
          <p:cNvPr id="22" name="Text 19"/>
          <p:cNvSpPr/>
          <p:nvPr/>
        </p:nvSpPr>
        <p:spPr>
          <a:xfrm>
            <a:off x="8046720" y="4777740"/>
            <a:ext cx="822960" cy="228600"/>
          </a:xfrm>
          <a:prstGeom prst="rect">
            <a:avLst/>
          </a:prstGeom>
          <a:noFill/>
          <a:ln/>
        </p:spPr>
        <p:txBody>
          <a:bodyPr wrap="square" lIns="0" tIns="0" rIns="0" bIns="0" rtlCol="0" anchor="ctr"/>
          <a:lstStyle/>
          <a:p>
            <a:pPr algn="r" indent="0" marL="0">
              <a:buNone/>
            </a:pPr>
            <a:r>
              <a:rPr lang="en-US" sz="900" dirty="0">
                <a:solidFill>
                  <a:srgbClr val="999999"/>
                </a:solidFill>
                <a:latin typeface="Consolas" pitchFamily="34" charset="0"/>
                <a:ea typeface="Consolas" pitchFamily="34" charset="-122"/>
                <a:cs typeface="Consolas" pitchFamily="34" charset="-120"/>
              </a:rPr>
              <a:t>2 / 15</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7863840" cy="457200"/>
          </a:xfrm>
          <a:prstGeom prst="rect">
            <a:avLst/>
          </a:prstGeom>
          <a:noFill/>
          <a:ln/>
        </p:spPr>
        <p:txBody>
          <a:bodyPr wrap="square" lIns="0" tIns="0" rIns="0" bIns="0" rtlCol="0" anchor="t"/>
          <a:lstStyle/>
          <a:p>
            <a:pPr algn="l" indent="0" marL="0">
              <a:buNone/>
            </a:pPr>
            <a:r>
              <a:rPr lang="en-US" sz="2600" b="1" dirty="0">
                <a:solidFill>
                  <a:srgbClr val="1E3A5F"/>
                </a:solidFill>
                <a:latin typeface="Noto Sans KR" pitchFamily="34" charset="0"/>
                <a:ea typeface="Noto Sans KR" pitchFamily="34" charset="-122"/>
                <a:cs typeface="Noto Sans KR" pitchFamily="34" charset="-120"/>
              </a:rPr>
              <a:t>스팀 성공의 공통점</a:t>
            </a:r>
            <a:endParaRPr lang="en-US" sz="2600" dirty="0"/>
          </a:p>
        </p:txBody>
      </p:sp>
      <p:sp>
        <p:nvSpPr>
          <p:cNvPr id="3" name="Shape 1"/>
          <p:cNvSpPr/>
          <p:nvPr/>
        </p:nvSpPr>
        <p:spPr>
          <a:xfrm>
            <a:off x="640080" y="886968"/>
            <a:ext cx="658368" cy="22860"/>
          </a:xfrm>
          <a:prstGeom prst="rect">
            <a:avLst/>
          </a:prstGeom>
          <a:solidFill>
            <a:srgbClr val="C8A45C"/>
          </a:solidFill>
          <a:ln w="12700">
            <a:solidFill>
              <a:srgbClr val="C8A45C"/>
            </a:solidFill>
            <a:prstDash val="solid"/>
          </a:ln>
        </p:spPr>
      </p:sp>
      <p:sp>
        <p:nvSpPr>
          <p:cNvPr id="4" name="Text 2"/>
          <p:cNvSpPr/>
          <p:nvPr/>
        </p:nvSpPr>
        <p:spPr>
          <a:xfrm>
            <a:off x="731520" y="1280160"/>
            <a:ext cx="7680960" cy="868680"/>
          </a:xfrm>
          <a:prstGeom prst="rect">
            <a:avLst/>
          </a:prstGeom>
          <a:noFill/>
          <a:ln/>
        </p:spPr>
        <p:txBody>
          <a:bodyPr wrap="square" lIns="0" tIns="0" rIns="0" bIns="0" rtlCol="0" anchor="t"/>
          <a:lstStyle/>
          <a:p>
            <a:pPr algn="just" indent="0" marL="0">
              <a:lnSpc>
                <a:spcPct val="125000"/>
              </a:lnSpc>
              <a:spcAft>
                <a:spcPts val="400"/>
              </a:spcAft>
              <a:buNone/>
            </a:pPr>
            <a:r>
              <a:rPr lang="en-US" sz="1400" dirty="0">
                <a:solidFill>
                  <a:srgbClr val="333333"/>
                </a:solidFill>
                <a:latin typeface="Noto Sans KR" pitchFamily="34" charset="0"/>
                <a:ea typeface="Noto Sans KR" pitchFamily="34" charset="-122"/>
                <a:cs typeface="Noto Sans KR" pitchFamily="34" charset="-120"/>
              </a:rPr>
              <a:t>스팀에서 흥행한 게임들은 출시 직전에 마케팅 예산을 쏟아부어 성공한 것이 아니다. 오랜 시간 쌓아온 관계가 출시 첫 주에 모멘텀으로 환산될 뿐이다. 마케팅의 본체는 광고 집행이 아니라 세 종류의 관계 자본 누적이다.</a:t>
            </a:r>
            <a:endParaRPr lang="en-US" sz="1400" dirty="0"/>
          </a:p>
        </p:txBody>
      </p:sp>
      <p:sp>
        <p:nvSpPr>
          <p:cNvPr id="5" name="Shape 3"/>
          <p:cNvSpPr/>
          <p:nvPr/>
        </p:nvSpPr>
        <p:spPr>
          <a:xfrm>
            <a:off x="731520" y="2313432"/>
            <a:ext cx="109728" cy="109728"/>
          </a:xfrm>
          <a:prstGeom prst="rect">
            <a:avLst/>
          </a:prstGeom>
          <a:solidFill>
            <a:srgbClr val="C8A45C"/>
          </a:solidFill>
          <a:ln w="12700">
            <a:solidFill>
              <a:srgbClr val="C8A45C"/>
            </a:solidFill>
            <a:prstDash val="solid"/>
          </a:ln>
        </p:spPr>
      </p:sp>
      <p:sp>
        <p:nvSpPr>
          <p:cNvPr id="6" name="Text 4"/>
          <p:cNvSpPr/>
          <p:nvPr/>
        </p:nvSpPr>
        <p:spPr>
          <a:xfrm>
            <a:off x="1005840" y="2194560"/>
            <a:ext cx="7406640" cy="474345"/>
          </a:xfrm>
          <a:prstGeom prst="rect">
            <a:avLst/>
          </a:prstGeom>
          <a:noFill/>
          <a:ln/>
        </p:spPr>
        <p:txBody>
          <a:bodyPr wrap="square" lIns="0" tIns="0" rIns="0" bIns="0" rtlCol="0" anchor="t"/>
          <a:lstStyle/>
          <a:p>
            <a:pPr algn="just" indent="0" marL="0">
              <a:lnSpc>
                <a:spcPct val="125000"/>
              </a:lnSpc>
              <a:spcAft>
                <a:spcPts val="1400"/>
              </a:spcAft>
              <a:buNone/>
            </a:pPr>
            <a:r>
              <a:rPr lang="en-US" sz="1300" b="1" dirty="0">
                <a:solidFill>
                  <a:srgbClr val="1E3A5F"/>
                </a:solidFill>
                <a:latin typeface="Noto Sans KR" pitchFamily="34" charset="0"/>
                <a:ea typeface="Noto Sans KR" pitchFamily="34" charset="-122"/>
                <a:cs typeface="Noto Sans KR" pitchFamily="34" charset="-120"/>
              </a:rPr>
              <a:t>플랫폼</a:t>
            </a:r>
            <a:pPr algn="just" indent="0" marL="0">
              <a:lnSpc>
                <a:spcPct val="125000"/>
              </a:lnSpc>
              <a:spcAft>
                <a:spcPts val="1400"/>
              </a:spcAft>
              <a:buNone/>
            </a:pPr>
            <a:r>
              <a:rPr lang="en-US" sz="1300" dirty="0">
                <a:solidFill>
                  <a:srgbClr val="666666"/>
                </a:solidFill>
                <a:latin typeface="Noto Sans KR" pitchFamily="34" charset="0"/>
                <a:ea typeface="Noto Sans KR" pitchFamily="34" charset="-122"/>
                <a:cs typeface="Noto Sans KR" pitchFamily="34" charset="-120"/>
              </a:rPr>
              <a:t> — 1~2년 전부터 빌드·아트·진척을 밸브에 공유하고, 파트너 커넥트 같은 비공개 행사에 우선 참석한다. 쇼케이스(State of Play, Xbox Showcase 등) 슬롯 한 자리가 배너 광고 100건보다 효과 크다.</a:t>
            </a:r>
            <a:endParaRPr lang="en-US" sz="1300" dirty="0"/>
          </a:p>
        </p:txBody>
      </p:sp>
      <p:sp>
        <p:nvSpPr>
          <p:cNvPr id="7" name="Shape 5"/>
          <p:cNvSpPr/>
          <p:nvPr/>
        </p:nvSpPr>
        <p:spPr>
          <a:xfrm>
            <a:off x="731520" y="2970657"/>
            <a:ext cx="109728" cy="109728"/>
          </a:xfrm>
          <a:prstGeom prst="rect">
            <a:avLst/>
          </a:prstGeom>
          <a:solidFill>
            <a:srgbClr val="C8A45C"/>
          </a:solidFill>
          <a:ln w="12700">
            <a:solidFill>
              <a:srgbClr val="C8A45C"/>
            </a:solidFill>
            <a:prstDash val="solid"/>
          </a:ln>
        </p:spPr>
      </p:sp>
      <p:sp>
        <p:nvSpPr>
          <p:cNvPr id="8" name="Text 6"/>
          <p:cNvSpPr/>
          <p:nvPr/>
        </p:nvSpPr>
        <p:spPr>
          <a:xfrm>
            <a:off x="1005840" y="2851785"/>
            <a:ext cx="7406640" cy="474345"/>
          </a:xfrm>
          <a:prstGeom prst="rect">
            <a:avLst/>
          </a:prstGeom>
          <a:noFill/>
          <a:ln/>
        </p:spPr>
        <p:txBody>
          <a:bodyPr wrap="square" lIns="0" tIns="0" rIns="0" bIns="0" rtlCol="0" anchor="t"/>
          <a:lstStyle/>
          <a:p>
            <a:pPr algn="just" indent="0" marL="0">
              <a:lnSpc>
                <a:spcPct val="125000"/>
              </a:lnSpc>
              <a:spcAft>
                <a:spcPts val="1400"/>
              </a:spcAft>
              <a:buNone/>
            </a:pPr>
            <a:r>
              <a:rPr lang="en-US" sz="1300" b="1" dirty="0">
                <a:solidFill>
                  <a:srgbClr val="1E3A5F"/>
                </a:solidFill>
                <a:latin typeface="Noto Sans KR" pitchFamily="34" charset="0"/>
                <a:ea typeface="Noto Sans KR" pitchFamily="34" charset="-122"/>
                <a:cs typeface="Noto Sans KR" pitchFamily="34" charset="-120"/>
              </a:rPr>
              <a:t>커뮤니티</a:t>
            </a:r>
            <a:pPr algn="just" indent="0" marL="0">
              <a:lnSpc>
                <a:spcPct val="125000"/>
              </a:lnSpc>
              <a:spcAft>
                <a:spcPts val="1400"/>
              </a:spcAft>
              <a:buNone/>
            </a:pPr>
            <a:r>
              <a:rPr lang="en-US" sz="1300" dirty="0">
                <a:solidFill>
                  <a:srgbClr val="666666"/>
                </a:solidFill>
                <a:latin typeface="Noto Sans KR" pitchFamily="34" charset="0"/>
                <a:ea typeface="Noto Sans KR" pitchFamily="34" charset="-122"/>
                <a:cs typeface="Noto Sans KR" pitchFamily="34" charset="-120"/>
              </a:rPr>
              <a:t> — Discord에서 대표 명의로 직접 답변하고, 못 하는 이유와 일정·우선순위까지 투명하게 공개한다. 대행사 멘트는 신뢰가 쌓이지 않는다 — 누가 말하느냐가 무엇을 말하느냐만큼 중요하다.</a:t>
            </a:r>
            <a:endParaRPr lang="en-US" sz="1300" dirty="0"/>
          </a:p>
        </p:txBody>
      </p:sp>
      <p:sp>
        <p:nvSpPr>
          <p:cNvPr id="9" name="Shape 7"/>
          <p:cNvSpPr/>
          <p:nvPr/>
        </p:nvSpPr>
        <p:spPr>
          <a:xfrm>
            <a:off x="731520" y="3627882"/>
            <a:ext cx="109728" cy="109728"/>
          </a:xfrm>
          <a:prstGeom prst="rect">
            <a:avLst/>
          </a:prstGeom>
          <a:solidFill>
            <a:srgbClr val="C8A45C"/>
          </a:solidFill>
          <a:ln w="12700">
            <a:solidFill>
              <a:srgbClr val="C8A45C"/>
            </a:solidFill>
            <a:prstDash val="solid"/>
          </a:ln>
        </p:spPr>
      </p:sp>
      <p:sp>
        <p:nvSpPr>
          <p:cNvPr id="10" name="Text 8"/>
          <p:cNvSpPr/>
          <p:nvPr/>
        </p:nvSpPr>
        <p:spPr>
          <a:xfrm>
            <a:off x="1005840" y="3509010"/>
            <a:ext cx="7406640" cy="474345"/>
          </a:xfrm>
          <a:prstGeom prst="rect">
            <a:avLst/>
          </a:prstGeom>
          <a:noFill/>
          <a:ln/>
        </p:spPr>
        <p:txBody>
          <a:bodyPr wrap="square" lIns="0" tIns="0" rIns="0" bIns="0" rtlCol="0" anchor="t"/>
          <a:lstStyle/>
          <a:p>
            <a:pPr algn="just" indent="0" marL="0">
              <a:lnSpc>
                <a:spcPct val="125000"/>
              </a:lnSpc>
              <a:spcAft>
                <a:spcPts val="1400"/>
              </a:spcAft>
              <a:buNone/>
            </a:pPr>
            <a:r>
              <a:rPr lang="en-US" sz="1300" b="1" dirty="0">
                <a:solidFill>
                  <a:srgbClr val="1E3A5F"/>
                </a:solidFill>
                <a:latin typeface="Noto Sans KR" pitchFamily="34" charset="0"/>
                <a:ea typeface="Noto Sans KR" pitchFamily="34" charset="-122"/>
                <a:cs typeface="Noto Sans KR" pitchFamily="34" charset="-120"/>
              </a:rPr>
              <a:t>크리에이터</a:t>
            </a:r>
            <a:pPr algn="just" indent="0" marL="0">
              <a:lnSpc>
                <a:spcPct val="125000"/>
              </a:lnSpc>
              <a:spcAft>
                <a:spcPts val="1400"/>
              </a:spcAft>
              <a:buNone/>
            </a:pPr>
            <a:r>
              <a:rPr lang="en-US" sz="1300" dirty="0">
                <a:solidFill>
                  <a:srgbClr val="666666"/>
                </a:solidFill>
                <a:latin typeface="Noto Sans KR" pitchFamily="34" charset="0"/>
                <a:ea typeface="Noto Sans KR" pitchFamily="34" charset="-122"/>
                <a:cs typeface="Noto Sans KR" pitchFamily="34" charset="-120"/>
              </a:rPr>
              <a:t> — 구독자 수보다 게임과의 접점(유사 장르 플레이 이력)이 결정적이다. 동질 오디언스에 닿아야 시청 → 위시리스트 → 구매로 전환된다.</a:t>
            </a:r>
            <a:endParaRPr lang="en-US" sz="1300" dirty="0"/>
          </a:p>
        </p:txBody>
      </p:sp>
      <p:sp>
        <p:nvSpPr>
          <p:cNvPr id="11" name="Shape 9"/>
          <p:cNvSpPr/>
          <p:nvPr/>
        </p:nvSpPr>
        <p:spPr>
          <a:xfrm>
            <a:off x="731520" y="4285107"/>
            <a:ext cx="109728" cy="109728"/>
          </a:xfrm>
          <a:prstGeom prst="rect">
            <a:avLst/>
          </a:prstGeom>
          <a:solidFill>
            <a:srgbClr val="C8A45C"/>
          </a:solidFill>
          <a:ln w="12700">
            <a:solidFill>
              <a:srgbClr val="C8A45C"/>
            </a:solidFill>
            <a:prstDash val="solid"/>
          </a:ln>
        </p:spPr>
      </p:sp>
      <p:sp>
        <p:nvSpPr>
          <p:cNvPr id="12" name="Text 10"/>
          <p:cNvSpPr/>
          <p:nvPr/>
        </p:nvSpPr>
        <p:spPr>
          <a:xfrm>
            <a:off x="1005840" y="4166235"/>
            <a:ext cx="7406640" cy="474345"/>
          </a:xfrm>
          <a:prstGeom prst="rect">
            <a:avLst/>
          </a:prstGeom>
          <a:noFill/>
          <a:ln/>
        </p:spPr>
        <p:txBody>
          <a:bodyPr wrap="square" lIns="0" tIns="0" rIns="0" bIns="0" rtlCol="0" anchor="t"/>
          <a:lstStyle/>
          <a:p>
            <a:pPr algn="just" indent="0" marL="0">
              <a:lnSpc>
                <a:spcPct val="125000"/>
              </a:lnSpc>
              <a:spcAft>
                <a:spcPts val="1400"/>
              </a:spcAft>
              <a:buNone/>
            </a:pPr>
            <a:r>
              <a:rPr lang="en-US" sz="1300" dirty="0">
                <a:solidFill>
                  <a:srgbClr val="666666"/>
                </a:solidFill>
                <a:latin typeface="Noto Sans KR" pitchFamily="34" charset="0"/>
                <a:ea typeface="Noto Sans KR" pitchFamily="34" charset="-122"/>
                <a:cs typeface="Noto Sans KR" pitchFamily="34" charset="-120"/>
              </a:rPr>
              <a:t>결국 출시일은 마케팅의 시작이 아니라 그동안 쌓인 관계 자본의 정산일이다. 첫 주 모멘텀은 이미 6개월~2년 전에 결정된다.</a:t>
            </a:r>
            <a:endParaRPr lang="en-US" sz="1300" dirty="0"/>
          </a:p>
        </p:txBody>
      </p:sp>
      <p:sp>
        <p:nvSpPr>
          <p:cNvPr id="14" name="Text 11"/>
          <p:cNvSpPr/>
          <p:nvPr/>
        </p:nvSpPr>
        <p:spPr>
          <a:xfrm>
            <a:off x="8046720" y="4777740"/>
            <a:ext cx="822960" cy="228600"/>
          </a:xfrm>
          <a:prstGeom prst="rect">
            <a:avLst/>
          </a:prstGeom>
          <a:noFill/>
          <a:ln/>
        </p:spPr>
        <p:txBody>
          <a:bodyPr wrap="square" lIns="0" tIns="0" rIns="0" bIns="0" rtlCol="0" anchor="ctr"/>
          <a:lstStyle/>
          <a:p>
            <a:pPr algn="r" indent="0" marL="0">
              <a:buNone/>
            </a:pPr>
            <a:r>
              <a:rPr lang="en-US" sz="900" dirty="0">
                <a:solidFill>
                  <a:srgbClr val="999999"/>
                </a:solidFill>
                <a:latin typeface="Consolas" pitchFamily="34" charset="0"/>
                <a:ea typeface="Consolas" pitchFamily="34" charset="-122"/>
                <a:cs typeface="Consolas" pitchFamily="34" charset="-120"/>
              </a:rPr>
              <a:t>3 / 15</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7863840" cy="457200"/>
          </a:xfrm>
          <a:prstGeom prst="rect">
            <a:avLst/>
          </a:prstGeom>
          <a:noFill/>
          <a:ln/>
        </p:spPr>
        <p:txBody>
          <a:bodyPr wrap="square" lIns="0" tIns="0" rIns="0" bIns="0" rtlCol="0" anchor="t"/>
          <a:lstStyle/>
          <a:p>
            <a:pPr algn="l" indent="0" marL="0">
              <a:buNone/>
            </a:pPr>
            <a:r>
              <a:rPr lang="en-US" sz="2600" b="1" dirty="0">
                <a:solidFill>
                  <a:srgbClr val="1E3A5F"/>
                </a:solidFill>
                <a:latin typeface="Noto Sans KR" pitchFamily="34" charset="0"/>
                <a:ea typeface="Noto Sans KR" pitchFamily="34" charset="-122"/>
                <a:cs typeface="Noto Sans KR" pitchFamily="34" charset="-120"/>
              </a:rPr>
              <a:t>가격대별 수익 변화 (2022 → 2025)</a:t>
            </a:r>
            <a:endParaRPr lang="en-US" sz="2600" dirty="0"/>
          </a:p>
        </p:txBody>
      </p:sp>
      <p:sp>
        <p:nvSpPr>
          <p:cNvPr id="3" name="Shape 1"/>
          <p:cNvSpPr/>
          <p:nvPr/>
        </p:nvSpPr>
        <p:spPr>
          <a:xfrm>
            <a:off x="640080" y="886968"/>
            <a:ext cx="658368" cy="22860"/>
          </a:xfrm>
          <a:prstGeom prst="rect">
            <a:avLst/>
          </a:prstGeom>
          <a:solidFill>
            <a:srgbClr val="C8A45C"/>
          </a:solidFill>
          <a:ln w="12700">
            <a:solidFill>
              <a:srgbClr val="C8A45C"/>
            </a:solidFill>
            <a:prstDash val="solid"/>
          </a:ln>
        </p:spPr>
      </p:sp>
      <p:sp>
        <p:nvSpPr>
          <p:cNvPr id="4" name="Text 2"/>
          <p:cNvSpPr/>
          <p:nvPr/>
        </p:nvSpPr>
        <p:spPr>
          <a:xfrm>
            <a:off x="914400" y="1280160"/>
            <a:ext cx="7315200" cy="320040"/>
          </a:xfrm>
          <a:prstGeom prst="rect">
            <a:avLst/>
          </a:prstGeom>
          <a:noFill/>
          <a:ln/>
        </p:spPr>
        <p:txBody>
          <a:bodyPr wrap="square" lIns="0" tIns="0" rIns="0" bIns="0" rtlCol="0" anchor="t"/>
          <a:lstStyle/>
          <a:p>
            <a:pPr algn="ctr" indent="0" marL="0">
              <a:buNone/>
            </a:pPr>
            <a:r>
              <a:rPr lang="en-US" sz="1200" dirty="0">
                <a:solidFill>
                  <a:srgbClr val="666666"/>
                </a:solidFill>
                <a:latin typeface="Noto Sans KR" pitchFamily="34" charset="0"/>
                <a:ea typeface="Noto Sans KR" pitchFamily="34" charset="-122"/>
                <a:cs typeface="Noto Sans KR" pitchFamily="34" charset="-120"/>
              </a:rPr>
              <a:t>$30~50 구간 — 미드 프라이스 스위트 스팟</a:t>
            </a:r>
            <a:endParaRPr lang="en-US" sz="1200" dirty="0"/>
          </a:p>
        </p:txBody>
      </p:sp>
      <p:sp>
        <p:nvSpPr>
          <p:cNvPr id="5" name="Shape 3"/>
          <p:cNvSpPr/>
          <p:nvPr/>
        </p:nvSpPr>
        <p:spPr>
          <a:xfrm>
            <a:off x="1371600" y="3337560"/>
            <a:ext cx="6400800" cy="0"/>
          </a:xfrm>
          <a:prstGeom prst="line">
            <a:avLst/>
          </a:prstGeom>
          <a:noFill/>
          <a:ln w="9525">
            <a:solidFill>
              <a:srgbClr val="E0E3E8"/>
            </a:solidFill>
            <a:prstDash val="solid"/>
          </a:ln>
        </p:spPr>
      </p:sp>
      <p:sp>
        <p:nvSpPr>
          <p:cNvPr id="6" name="Shape 4"/>
          <p:cNvSpPr/>
          <p:nvPr/>
        </p:nvSpPr>
        <p:spPr>
          <a:xfrm>
            <a:off x="1371600" y="2093976"/>
            <a:ext cx="1325880" cy="1243584"/>
          </a:xfrm>
          <a:prstGeom prst="rect">
            <a:avLst/>
          </a:prstGeom>
          <a:solidFill>
            <a:srgbClr val="1E3A5F"/>
          </a:solidFill>
          <a:ln w="12700">
            <a:solidFill>
              <a:srgbClr val="1E3A5F"/>
            </a:solidFill>
            <a:prstDash val="solid"/>
          </a:ln>
        </p:spPr>
      </p:sp>
      <p:sp>
        <p:nvSpPr>
          <p:cNvPr id="7" name="Text 5"/>
          <p:cNvSpPr/>
          <p:nvPr/>
        </p:nvSpPr>
        <p:spPr>
          <a:xfrm>
            <a:off x="1280160" y="1764792"/>
            <a:ext cx="1508760" cy="274320"/>
          </a:xfrm>
          <a:prstGeom prst="rect">
            <a:avLst/>
          </a:prstGeom>
          <a:noFill/>
          <a:ln/>
        </p:spPr>
        <p:txBody>
          <a:bodyPr wrap="square" lIns="0" tIns="0" rIns="0" bIns="0" rtlCol="0" anchor="b"/>
          <a:lstStyle/>
          <a:p>
            <a:pPr algn="ctr" indent="0" marL="0">
              <a:buNone/>
            </a:pPr>
            <a:r>
              <a:rPr lang="en-US" sz="1400" b="1" dirty="0">
                <a:solidFill>
                  <a:srgbClr val="276749"/>
                </a:solidFill>
                <a:latin typeface="Consolas" pitchFamily="34" charset="0"/>
                <a:ea typeface="Consolas" pitchFamily="34" charset="-122"/>
                <a:cs typeface="Consolas" pitchFamily="34" charset="-120"/>
              </a:rPr>
              <a:t>+156%</a:t>
            </a:r>
            <a:endParaRPr lang="en-US" sz="1400" dirty="0"/>
          </a:p>
        </p:txBody>
      </p:sp>
      <p:sp>
        <p:nvSpPr>
          <p:cNvPr id="8" name="Text 6"/>
          <p:cNvSpPr/>
          <p:nvPr/>
        </p:nvSpPr>
        <p:spPr>
          <a:xfrm>
            <a:off x="1371600" y="3429000"/>
            <a:ext cx="1325880" cy="274320"/>
          </a:xfrm>
          <a:prstGeom prst="rect">
            <a:avLst/>
          </a:prstGeom>
          <a:noFill/>
          <a:ln/>
        </p:spPr>
        <p:txBody>
          <a:bodyPr wrap="square" lIns="0" tIns="0" rIns="0" bIns="0" rtlCol="0" anchor="t"/>
          <a:lstStyle/>
          <a:p>
            <a:pPr algn="ctr" indent="0" marL="0">
              <a:buNone/>
            </a:pPr>
            <a:r>
              <a:rPr lang="en-US" sz="1100" dirty="0">
                <a:solidFill>
                  <a:srgbClr val="666666"/>
                </a:solidFill>
                <a:latin typeface="Noto Sans KR" pitchFamily="34" charset="0"/>
                <a:ea typeface="Noto Sans KR" pitchFamily="34" charset="-122"/>
                <a:cs typeface="Noto Sans KR" pitchFamily="34" charset="-120"/>
              </a:rPr>
              <a:t>$30 미만</a:t>
            </a:r>
            <a:endParaRPr lang="en-US" sz="1100" dirty="0"/>
          </a:p>
        </p:txBody>
      </p:sp>
      <p:sp>
        <p:nvSpPr>
          <p:cNvPr id="9" name="Shape 7"/>
          <p:cNvSpPr/>
          <p:nvPr/>
        </p:nvSpPr>
        <p:spPr>
          <a:xfrm>
            <a:off x="3063240" y="1783080"/>
            <a:ext cx="1325880" cy="1554480"/>
          </a:xfrm>
          <a:prstGeom prst="rect">
            <a:avLst/>
          </a:prstGeom>
          <a:solidFill>
            <a:srgbClr val="C8A45C"/>
          </a:solidFill>
          <a:ln w="12700">
            <a:solidFill>
              <a:srgbClr val="C8A45C"/>
            </a:solidFill>
            <a:prstDash val="solid"/>
          </a:ln>
        </p:spPr>
      </p:sp>
      <p:sp>
        <p:nvSpPr>
          <p:cNvPr id="10" name="Text 8"/>
          <p:cNvSpPr/>
          <p:nvPr/>
        </p:nvSpPr>
        <p:spPr>
          <a:xfrm>
            <a:off x="2971800" y="1453896"/>
            <a:ext cx="1508760" cy="274320"/>
          </a:xfrm>
          <a:prstGeom prst="rect">
            <a:avLst/>
          </a:prstGeom>
          <a:noFill/>
          <a:ln/>
        </p:spPr>
        <p:txBody>
          <a:bodyPr wrap="square" lIns="0" tIns="0" rIns="0" bIns="0" rtlCol="0" anchor="b"/>
          <a:lstStyle/>
          <a:p>
            <a:pPr algn="ctr" indent="0" marL="0">
              <a:buNone/>
            </a:pPr>
            <a:r>
              <a:rPr lang="en-US" sz="1400" b="1" dirty="0">
                <a:solidFill>
                  <a:srgbClr val="276749"/>
                </a:solidFill>
                <a:latin typeface="Consolas" pitchFamily="34" charset="0"/>
                <a:ea typeface="Consolas" pitchFamily="34" charset="-122"/>
                <a:cs typeface="Consolas" pitchFamily="34" charset="-120"/>
              </a:rPr>
              <a:t>+195%</a:t>
            </a:r>
            <a:endParaRPr lang="en-US" sz="1400" dirty="0"/>
          </a:p>
        </p:txBody>
      </p:sp>
      <p:sp>
        <p:nvSpPr>
          <p:cNvPr id="11" name="Text 9"/>
          <p:cNvSpPr/>
          <p:nvPr/>
        </p:nvSpPr>
        <p:spPr>
          <a:xfrm>
            <a:off x="3063240" y="3429000"/>
            <a:ext cx="1325880" cy="274320"/>
          </a:xfrm>
          <a:prstGeom prst="rect">
            <a:avLst/>
          </a:prstGeom>
          <a:noFill/>
          <a:ln/>
        </p:spPr>
        <p:txBody>
          <a:bodyPr wrap="square" lIns="0" tIns="0" rIns="0" bIns="0" rtlCol="0" anchor="t"/>
          <a:lstStyle/>
          <a:p>
            <a:pPr algn="ctr" indent="0" marL="0">
              <a:buNone/>
            </a:pPr>
            <a:r>
              <a:rPr lang="en-US" sz="1100" dirty="0">
                <a:solidFill>
                  <a:srgbClr val="666666"/>
                </a:solidFill>
                <a:latin typeface="Noto Sans KR" pitchFamily="34" charset="0"/>
                <a:ea typeface="Noto Sans KR" pitchFamily="34" charset="-122"/>
                <a:cs typeface="Noto Sans KR" pitchFamily="34" charset="-120"/>
              </a:rPr>
              <a:t>$30 ~ $50</a:t>
            </a:r>
            <a:endParaRPr lang="en-US" sz="1100" dirty="0"/>
          </a:p>
        </p:txBody>
      </p:sp>
      <p:sp>
        <p:nvSpPr>
          <p:cNvPr id="12" name="Shape 10"/>
          <p:cNvSpPr/>
          <p:nvPr/>
        </p:nvSpPr>
        <p:spPr>
          <a:xfrm>
            <a:off x="4754880" y="3081528"/>
            <a:ext cx="1325880" cy="256032"/>
          </a:xfrm>
          <a:prstGeom prst="rect">
            <a:avLst/>
          </a:prstGeom>
          <a:solidFill>
            <a:srgbClr val="B0B7C2"/>
          </a:solidFill>
          <a:ln w="12700">
            <a:solidFill>
              <a:srgbClr val="B0B7C2"/>
            </a:solidFill>
            <a:prstDash val="solid"/>
          </a:ln>
        </p:spPr>
      </p:sp>
      <p:sp>
        <p:nvSpPr>
          <p:cNvPr id="13" name="Text 11"/>
          <p:cNvSpPr/>
          <p:nvPr/>
        </p:nvSpPr>
        <p:spPr>
          <a:xfrm>
            <a:off x="4663440" y="2752344"/>
            <a:ext cx="1508760" cy="274320"/>
          </a:xfrm>
          <a:prstGeom prst="rect">
            <a:avLst/>
          </a:prstGeom>
          <a:noFill/>
          <a:ln/>
        </p:spPr>
        <p:txBody>
          <a:bodyPr wrap="square" lIns="0" tIns="0" rIns="0" bIns="0" rtlCol="0" anchor="b"/>
          <a:lstStyle/>
          <a:p>
            <a:pPr algn="ctr" indent="0" marL="0">
              <a:buNone/>
            </a:pPr>
            <a:r>
              <a:rPr lang="en-US" sz="1400" b="1" dirty="0">
                <a:solidFill>
                  <a:srgbClr val="666666"/>
                </a:solidFill>
                <a:latin typeface="Consolas" pitchFamily="34" charset="0"/>
                <a:ea typeface="Consolas" pitchFamily="34" charset="-122"/>
                <a:cs typeface="Consolas" pitchFamily="34" charset="-120"/>
              </a:rPr>
              <a:t>정체</a:t>
            </a:r>
            <a:endParaRPr lang="en-US" sz="1400" dirty="0"/>
          </a:p>
        </p:txBody>
      </p:sp>
      <p:sp>
        <p:nvSpPr>
          <p:cNvPr id="14" name="Text 12"/>
          <p:cNvSpPr/>
          <p:nvPr/>
        </p:nvSpPr>
        <p:spPr>
          <a:xfrm>
            <a:off x="4754880" y="3429000"/>
            <a:ext cx="1325880" cy="274320"/>
          </a:xfrm>
          <a:prstGeom prst="rect">
            <a:avLst/>
          </a:prstGeom>
          <a:noFill/>
          <a:ln/>
        </p:spPr>
        <p:txBody>
          <a:bodyPr wrap="square" lIns="0" tIns="0" rIns="0" bIns="0" rtlCol="0" anchor="t"/>
          <a:lstStyle/>
          <a:p>
            <a:pPr algn="ctr" indent="0" marL="0">
              <a:buNone/>
            </a:pPr>
            <a:r>
              <a:rPr lang="en-US" sz="1100" dirty="0">
                <a:solidFill>
                  <a:srgbClr val="666666"/>
                </a:solidFill>
                <a:latin typeface="Noto Sans KR" pitchFamily="34" charset="0"/>
                <a:ea typeface="Noto Sans KR" pitchFamily="34" charset="-122"/>
                <a:cs typeface="Noto Sans KR" pitchFamily="34" charset="-120"/>
              </a:rPr>
              <a:t>$50 ~ $70</a:t>
            </a:r>
            <a:endParaRPr lang="en-US" sz="1100" dirty="0"/>
          </a:p>
        </p:txBody>
      </p:sp>
      <p:sp>
        <p:nvSpPr>
          <p:cNvPr id="15" name="Shape 13"/>
          <p:cNvSpPr/>
          <p:nvPr/>
        </p:nvSpPr>
        <p:spPr>
          <a:xfrm>
            <a:off x="6446520" y="3081528"/>
            <a:ext cx="1325880" cy="256032"/>
          </a:xfrm>
          <a:prstGeom prst="rect">
            <a:avLst/>
          </a:prstGeom>
          <a:solidFill>
            <a:srgbClr val="B0B7C2"/>
          </a:solidFill>
          <a:ln w="12700">
            <a:solidFill>
              <a:srgbClr val="B0B7C2"/>
            </a:solidFill>
            <a:prstDash val="solid"/>
          </a:ln>
        </p:spPr>
      </p:sp>
      <p:sp>
        <p:nvSpPr>
          <p:cNvPr id="16" name="Text 14"/>
          <p:cNvSpPr/>
          <p:nvPr/>
        </p:nvSpPr>
        <p:spPr>
          <a:xfrm>
            <a:off x="6355080" y="2752344"/>
            <a:ext cx="1508760" cy="274320"/>
          </a:xfrm>
          <a:prstGeom prst="rect">
            <a:avLst/>
          </a:prstGeom>
          <a:noFill/>
          <a:ln/>
        </p:spPr>
        <p:txBody>
          <a:bodyPr wrap="square" lIns="0" tIns="0" rIns="0" bIns="0" rtlCol="0" anchor="b"/>
          <a:lstStyle/>
          <a:p>
            <a:pPr algn="ctr" indent="0" marL="0">
              <a:buNone/>
            </a:pPr>
            <a:r>
              <a:rPr lang="en-US" sz="1400" b="1" dirty="0">
                <a:solidFill>
                  <a:srgbClr val="C53030"/>
                </a:solidFill>
                <a:latin typeface="Consolas" pitchFamily="34" charset="0"/>
                <a:ea typeface="Consolas" pitchFamily="34" charset="-122"/>
                <a:cs typeface="Consolas" pitchFamily="34" charset="-120"/>
              </a:rPr>
              <a:t>하락</a:t>
            </a:r>
            <a:endParaRPr lang="en-US" sz="1400" dirty="0"/>
          </a:p>
        </p:txBody>
      </p:sp>
      <p:sp>
        <p:nvSpPr>
          <p:cNvPr id="17" name="Text 15"/>
          <p:cNvSpPr/>
          <p:nvPr/>
        </p:nvSpPr>
        <p:spPr>
          <a:xfrm>
            <a:off x="6446520" y="3429000"/>
            <a:ext cx="1325880" cy="274320"/>
          </a:xfrm>
          <a:prstGeom prst="rect">
            <a:avLst/>
          </a:prstGeom>
          <a:noFill/>
          <a:ln/>
        </p:spPr>
        <p:txBody>
          <a:bodyPr wrap="square" lIns="0" tIns="0" rIns="0" bIns="0" rtlCol="0" anchor="t"/>
          <a:lstStyle/>
          <a:p>
            <a:pPr algn="ctr" indent="0" marL="0">
              <a:buNone/>
            </a:pPr>
            <a:r>
              <a:rPr lang="en-US" sz="1100" dirty="0">
                <a:solidFill>
                  <a:srgbClr val="666666"/>
                </a:solidFill>
                <a:latin typeface="Noto Sans KR" pitchFamily="34" charset="0"/>
                <a:ea typeface="Noto Sans KR" pitchFamily="34" charset="-122"/>
                <a:cs typeface="Noto Sans KR" pitchFamily="34" charset="-120"/>
              </a:rPr>
              <a:t>$70 +</a:t>
            </a:r>
            <a:endParaRPr lang="en-US" sz="1100" dirty="0"/>
          </a:p>
        </p:txBody>
      </p:sp>
      <p:sp>
        <p:nvSpPr>
          <p:cNvPr id="18" name="Text 16"/>
          <p:cNvSpPr/>
          <p:nvPr/>
        </p:nvSpPr>
        <p:spPr>
          <a:xfrm>
            <a:off x="731520" y="3840480"/>
            <a:ext cx="7680960" cy="868680"/>
          </a:xfrm>
          <a:prstGeom prst="rect">
            <a:avLst/>
          </a:prstGeom>
          <a:noFill/>
          <a:ln/>
        </p:spPr>
        <p:txBody>
          <a:bodyPr wrap="square" lIns="0" tIns="0" rIns="0" bIns="0" rtlCol="0" anchor="t"/>
          <a:lstStyle/>
          <a:p>
            <a:pPr algn="ctr" indent="0" marL="0">
              <a:lnSpc>
                <a:spcPct val="125000"/>
              </a:lnSpc>
              <a:spcAft>
                <a:spcPts val="200"/>
              </a:spcAft>
              <a:buNone/>
            </a:pPr>
            <a:r>
              <a:rPr lang="en-US" sz="1100" dirty="0">
                <a:solidFill>
                  <a:srgbClr val="666666"/>
                </a:solidFill>
                <a:latin typeface="Noto Sans KR" pitchFamily="34" charset="0"/>
                <a:ea typeface="Noto Sans KR" pitchFamily="34" charset="-122"/>
                <a:cs typeface="Noto Sans KR" pitchFamily="34" charset="-120"/>
              </a:rPr>
              <a:t>$30~50 미드 프라이스가 전체 매출 성장의 견인차. 클레르 옵스퀴르($50, 600만장+), 헬다이버스2($40, 2,000만장+), 아크 레이더스($40, 1,400만장)가 이 구간 대표 사례. AAA 가격 전략($70+)은 정체·하락 국면이며, 게이머의 22%가 핵심 게임플레이를, 단 7%만 고품질 그래픽을 최우선으로 꼽았다는 조사가 이 구조 변화를 뒷받침한다.</a:t>
            </a:r>
            <a:endParaRPr lang="en-US" sz="1100" dirty="0"/>
          </a:p>
        </p:txBody>
      </p:sp>
      <p:sp>
        <p:nvSpPr>
          <p:cNvPr id="19" name="Text 17"/>
          <p:cNvSpPr/>
          <p:nvPr/>
        </p:nvSpPr>
        <p:spPr>
          <a:xfrm>
            <a:off x="640080" y="4823460"/>
            <a:ext cx="7863840" cy="228600"/>
          </a:xfrm>
          <a:prstGeom prst="rect">
            <a:avLst/>
          </a:prstGeom>
          <a:noFill/>
          <a:ln/>
        </p:spPr>
        <p:txBody>
          <a:bodyPr wrap="square" lIns="0" tIns="0" rIns="0" bIns="0" rtlCol="0" anchor="ctr"/>
          <a:lstStyle/>
          <a:p>
            <a:pPr algn="ctr" indent="0" marL="0">
              <a:buNone/>
            </a:pPr>
            <a:r>
              <a:rPr lang="en-US" sz="900" dirty="0">
                <a:solidFill>
                  <a:srgbClr val="999999"/>
                </a:solidFill>
                <a:latin typeface="Noto Sans KR" pitchFamily="34" charset="0"/>
                <a:ea typeface="Noto Sans KR" pitchFamily="34" charset="-122"/>
                <a:cs typeface="Noto Sans KR" pitchFamily="34" charset="-120"/>
              </a:rPr>
              <a:t>출처 — Newzoo 2026 시장 분석, Bain &amp; Company 2025</a:t>
            </a:r>
            <a:endParaRPr lang="en-US" sz="900" dirty="0"/>
          </a:p>
        </p:txBody>
      </p:sp>
      <p:sp>
        <p:nvSpPr>
          <p:cNvPr id="21" name="Text 18"/>
          <p:cNvSpPr/>
          <p:nvPr/>
        </p:nvSpPr>
        <p:spPr>
          <a:xfrm>
            <a:off x="8046720" y="4777740"/>
            <a:ext cx="822960" cy="228600"/>
          </a:xfrm>
          <a:prstGeom prst="rect">
            <a:avLst/>
          </a:prstGeom>
          <a:noFill/>
          <a:ln/>
        </p:spPr>
        <p:txBody>
          <a:bodyPr wrap="square" lIns="0" tIns="0" rIns="0" bIns="0" rtlCol="0" anchor="ctr"/>
          <a:lstStyle/>
          <a:p>
            <a:pPr algn="r" indent="0" marL="0">
              <a:buNone/>
            </a:pPr>
            <a:r>
              <a:rPr lang="en-US" sz="900" dirty="0">
                <a:solidFill>
                  <a:srgbClr val="999999"/>
                </a:solidFill>
                <a:latin typeface="Consolas" pitchFamily="34" charset="0"/>
                <a:ea typeface="Consolas" pitchFamily="34" charset="-122"/>
                <a:cs typeface="Consolas" pitchFamily="34" charset="-120"/>
              </a:rPr>
              <a:t>4 / 15</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E3A5F"/>
        </a:solidFill>
      </p:bgPr>
    </p:bg>
    <p:spTree>
      <p:nvGrpSpPr>
        <p:cNvPr id="1" name=""/>
        <p:cNvGrpSpPr/>
        <p:nvPr/>
      </p:nvGrpSpPr>
      <p:grpSpPr>
        <a:xfrm>
          <a:off x="0" y="0"/>
          <a:ext cx="0" cy="0"/>
          <a:chOff x="0" y="0"/>
          <a:chExt cx="0" cy="0"/>
        </a:xfrm>
      </p:grpSpPr>
      <p:sp>
        <p:nvSpPr>
          <p:cNvPr id="2" name="Text 0"/>
          <p:cNvSpPr/>
          <p:nvPr/>
        </p:nvSpPr>
        <p:spPr>
          <a:xfrm>
            <a:off x="640080" y="548640"/>
            <a:ext cx="7863840" cy="914400"/>
          </a:xfrm>
          <a:prstGeom prst="rect">
            <a:avLst/>
          </a:prstGeom>
          <a:noFill/>
          <a:ln/>
        </p:spPr>
        <p:txBody>
          <a:bodyPr wrap="square" lIns="0" tIns="0" rIns="0" bIns="0" rtlCol="0" anchor="ctr"/>
          <a:lstStyle/>
          <a:p>
            <a:pPr algn="ctr" indent="0" marL="0">
              <a:buNone/>
            </a:pPr>
            <a:r>
              <a:rPr lang="en-US" sz="8000" dirty="0">
                <a:solidFill>
                  <a:srgbClr val="C8A45C"/>
                </a:solidFill>
                <a:latin typeface="Georgia" pitchFamily="34" charset="0"/>
                <a:ea typeface="Georgia" pitchFamily="34" charset="-122"/>
                <a:cs typeface="Georgia" pitchFamily="34" charset="-120"/>
              </a:rPr>
              <a:t>“</a:t>
            </a:r>
            <a:endParaRPr lang="en-US" sz="8000" dirty="0"/>
          </a:p>
        </p:txBody>
      </p:sp>
      <p:sp>
        <p:nvSpPr>
          <p:cNvPr id="3" name="Text 1"/>
          <p:cNvSpPr/>
          <p:nvPr/>
        </p:nvSpPr>
        <p:spPr>
          <a:xfrm>
            <a:off x="731520" y="1417320"/>
            <a:ext cx="7680960" cy="1463040"/>
          </a:xfrm>
          <a:prstGeom prst="rect">
            <a:avLst/>
          </a:prstGeom>
          <a:noFill/>
          <a:ln/>
        </p:spPr>
        <p:txBody>
          <a:bodyPr wrap="square" lIns="0" tIns="0" rIns="0" bIns="0" rtlCol="0" anchor="ctr"/>
          <a:lstStyle/>
          <a:p>
            <a:pPr algn="ctr" indent="0" marL="0">
              <a:spcAft>
                <a:spcPts val="400"/>
              </a:spcAft>
              <a:buNone/>
            </a:pPr>
            <a:r>
              <a:rPr lang="en-US" sz="2600" i="1" dirty="0">
                <a:solidFill>
                  <a:srgbClr val="FFFFFF"/>
                </a:solidFill>
                <a:latin typeface="Noto Sans KR" pitchFamily="34" charset="0"/>
                <a:ea typeface="Noto Sans KR" pitchFamily="34" charset="-122"/>
                <a:cs typeface="Noto Sans KR" pitchFamily="34" charset="-120"/>
              </a:rPr>
              <a:t>가격은 수익 계산식이 아니라</a:t>
            </a:r>
            <a:endParaRPr lang="en-US" sz="2600" dirty="0"/>
          </a:p>
          <a:p>
            <a:pPr algn="ctr" indent="0" marL="0">
              <a:spcAft>
                <a:spcPts val="400"/>
              </a:spcAft>
              <a:buNone/>
            </a:pPr>
            <a:r>
              <a:rPr lang="en-US" sz="2600" i="1" dirty="0">
                <a:solidFill>
                  <a:srgbClr val="FFFFFF"/>
                </a:solidFill>
                <a:latin typeface="Noto Sans KR" pitchFamily="34" charset="0"/>
                <a:ea typeface="Noto Sans KR" pitchFamily="34" charset="-122"/>
                <a:cs typeface="Noto Sans KR" pitchFamily="34" charset="-120"/>
              </a:rPr>
              <a:t>포지셔닝 선언이다.</a:t>
            </a:r>
            <a:endParaRPr lang="en-US" sz="2600" dirty="0"/>
          </a:p>
        </p:txBody>
      </p:sp>
      <p:sp>
        <p:nvSpPr>
          <p:cNvPr id="4" name="Text 2"/>
          <p:cNvSpPr/>
          <p:nvPr/>
        </p:nvSpPr>
        <p:spPr>
          <a:xfrm>
            <a:off x="640080" y="3017520"/>
            <a:ext cx="7863840" cy="365760"/>
          </a:xfrm>
          <a:prstGeom prst="rect">
            <a:avLst/>
          </a:prstGeom>
          <a:noFill/>
          <a:ln/>
        </p:spPr>
        <p:txBody>
          <a:bodyPr wrap="square" lIns="0" tIns="0" rIns="0" bIns="0" rtlCol="0" anchor="ctr"/>
          <a:lstStyle/>
          <a:p>
            <a:pPr algn="ctr" indent="0" marL="0">
              <a:buNone/>
            </a:pPr>
            <a:r>
              <a:rPr lang="en-US" sz="1300" b="1" dirty="0">
                <a:solidFill>
                  <a:srgbClr val="C8A45C"/>
                </a:solidFill>
                <a:latin typeface="Noto Sans KR" pitchFamily="34" charset="0"/>
                <a:ea typeface="Noto Sans KR" pitchFamily="34" charset="-122"/>
                <a:cs typeface="Noto Sans KR" pitchFamily="34" charset="-120"/>
              </a:rPr>
              <a:t>— 게임 가격 전략 · 핵심 인사이트</a:t>
            </a:r>
            <a:endParaRPr lang="en-US" sz="1300" dirty="0"/>
          </a:p>
        </p:txBody>
      </p:sp>
      <p:sp>
        <p:nvSpPr>
          <p:cNvPr id="5" name="Text 3"/>
          <p:cNvSpPr/>
          <p:nvPr/>
        </p:nvSpPr>
        <p:spPr>
          <a:xfrm>
            <a:off x="914400" y="3520440"/>
            <a:ext cx="7315200" cy="1371600"/>
          </a:xfrm>
          <a:prstGeom prst="rect">
            <a:avLst/>
          </a:prstGeom>
          <a:noFill/>
          <a:ln/>
        </p:spPr>
        <p:txBody>
          <a:bodyPr wrap="square" lIns="0" tIns="0" rIns="0" bIns="0" rtlCol="0" anchor="t"/>
          <a:lstStyle/>
          <a:p>
            <a:pPr algn="ctr" indent="0" marL="0">
              <a:lnSpc>
                <a:spcPct val="125000"/>
              </a:lnSpc>
              <a:spcAft>
                <a:spcPts val="400"/>
              </a:spcAft>
              <a:buNone/>
            </a:pPr>
            <a:r>
              <a:rPr lang="en-US" sz="1200" dirty="0">
                <a:solidFill>
                  <a:srgbClr val="C8CDD4"/>
                </a:solidFill>
                <a:latin typeface="Noto Sans KR" pitchFamily="34" charset="0"/>
                <a:ea typeface="Noto Sans KR" pitchFamily="34" charset="-122"/>
                <a:cs typeface="Noto Sans KR" pitchFamily="34" charset="-120"/>
              </a:rPr>
              <a:t>$40은 'AAA가 아닌 것'이 아니라 '플레이어의 시간을 존중하는 것'으로 읽힌다. 장르 평균을 이탈하지 않되, 비즈니스 모델과 게임플레이 철학이 일관된 가격을 선택할 것. 아크 레이더스의 F2P→$40 전환 사례가 보여주듯, 가격 변경은 단순 숫자 조정이 아니라 게임플레이 루프 자체를 바꾸는 결정이다.</a:t>
            </a:r>
            <a:endParaRPr lang="en-US" sz="1200" dirty="0"/>
          </a:p>
        </p:txBody>
      </p:sp>
      <p:sp>
        <p:nvSpPr>
          <p:cNvPr id="7" name="Text 4"/>
          <p:cNvSpPr/>
          <p:nvPr/>
        </p:nvSpPr>
        <p:spPr>
          <a:xfrm>
            <a:off x="8046720" y="4777740"/>
            <a:ext cx="822960" cy="228600"/>
          </a:xfrm>
          <a:prstGeom prst="rect">
            <a:avLst/>
          </a:prstGeom>
          <a:noFill/>
          <a:ln/>
        </p:spPr>
        <p:txBody>
          <a:bodyPr wrap="square" lIns="0" tIns="0" rIns="0" bIns="0" rtlCol="0" anchor="ctr"/>
          <a:lstStyle/>
          <a:p>
            <a:pPr algn="r" indent="0" marL="0">
              <a:buNone/>
            </a:pPr>
            <a:r>
              <a:rPr lang="en-US" sz="900" dirty="0">
                <a:solidFill>
                  <a:srgbClr val="999999"/>
                </a:solidFill>
                <a:latin typeface="Consolas" pitchFamily="34" charset="0"/>
                <a:ea typeface="Consolas" pitchFamily="34" charset="-122"/>
                <a:cs typeface="Consolas" pitchFamily="34" charset="-120"/>
              </a:rPr>
              <a:t>5 / 15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7863840" cy="457200"/>
          </a:xfrm>
          <a:prstGeom prst="rect">
            <a:avLst/>
          </a:prstGeom>
          <a:noFill/>
          <a:ln/>
        </p:spPr>
        <p:txBody>
          <a:bodyPr wrap="square" lIns="0" tIns="0" rIns="0" bIns="0" rtlCol="0" anchor="t"/>
          <a:lstStyle/>
          <a:p>
            <a:pPr algn="l" indent="0" marL="0">
              <a:buNone/>
            </a:pPr>
            <a:r>
              <a:rPr lang="en-US" sz="2600" b="1" dirty="0">
                <a:solidFill>
                  <a:srgbClr val="1E3A5F"/>
                </a:solidFill>
                <a:latin typeface="Noto Sans KR" pitchFamily="34" charset="0"/>
                <a:ea typeface="Noto Sans KR" pitchFamily="34" charset="-122"/>
                <a:cs typeface="Noto Sans KR" pitchFamily="34" charset="-120"/>
              </a:rPr>
              <a:t>위시리스트 = 밸브 달러</a:t>
            </a:r>
            <a:endParaRPr lang="en-US" sz="2600" dirty="0"/>
          </a:p>
        </p:txBody>
      </p:sp>
      <p:sp>
        <p:nvSpPr>
          <p:cNvPr id="3" name="Shape 1"/>
          <p:cNvSpPr/>
          <p:nvPr/>
        </p:nvSpPr>
        <p:spPr>
          <a:xfrm>
            <a:off x="640080" y="886968"/>
            <a:ext cx="658368" cy="22860"/>
          </a:xfrm>
          <a:prstGeom prst="rect">
            <a:avLst/>
          </a:prstGeom>
          <a:solidFill>
            <a:srgbClr val="C8A45C"/>
          </a:solidFill>
          <a:ln w="12700">
            <a:solidFill>
              <a:srgbClr val="C8A45C"/>
            </a:solidFill>
            <a:prstDash val="solid"/>
          </a:ln>
        </p:spPr>
      </p:sp>
      <p:sp>
        <p:nvSpPr>
          <p:cNvPr id="4" name="Text 2"/>
          <p:cNvSpPr/>
          <p:nvPr/>
        </p:nvSpPr>
        <p:spPr>
          <a:xfrm>
            <a:off x="914400" y="1325880"/>
            <a:ext cx="7315200" cy="777240"/>
          </a:xfrm>
          <a:prstGeom prst="rect">
            <a:avLst/>
          </a:prstGeom>
          <a:noFill/>
          <a:ln/>
        </p:spPr>
        <p:txBody>
          <a:bodyPr wrap="square" lIns="0" tIns="0" rIns="0" bIns="0" rtlCol="0" anchor="t"/>
          <a:lstStyle/>
          <a:p>
            <a:pPr algn="ctr" indent="0" marL="0">
              <a:spcAft>
                <a:spcPts val="400"/>
              </a:spcAft>
              <a:buNone/>
            </a:pPr>
            <a:r>
              <a:rPr lang="en-US" sz="1300" dirty="0">
                <a:solidFill>
                  <a:srgbClr val="666666"/>
                </a:solidFill>
                <a:latin typeface="Noto Sans KR" pitchFamily="34" charset="0"/>
                <a:ea typeface="Noto Sans KR" pitchFamily="34" charset="-122"/>
                <a:cs typeface="Noto Sans KR" pitchFamily="34" charset="-120"/>
              </a:rPr>
              <a:t>위시리스트는 단순 즐겨찾기가 아니라 스팀 알고리즘의 통화처럼 작동한다. 양·질·지속성 — 세 가지 축에서 모두 관리해야 한다.</a:t>
            </a:r>
            <a:endParaRPr lang="en-US" sz="1300" dirty="0"/>
          </a:p>
        </p:txBody>
      </p:sp>
      <p:sp>
        <p:nvSpPr>
          <p:cNvPr id="5" name="Shape 3"/>
          <p:cNvSpPr/>
          <p:nvPr/>
        </p:nvSpPr>
        <p:spPr>
          <a:xfrm>
            <a:off x="640080" y="2194560"/>
            <a:ext cx="2487168" cy="2446020"/>
          </a:xfrm>
          <a:prstGeom prst="rect">
            <a:avLst/>
          </a:prstGeom>
          <a:solidFill>
            <a:srgbClr val="F4F5F7"/>
          </a:solidFill>
          <a:ln w="9525">
            <a:solidFill>
              <a:srgbClr val="E0E3E8"/>
            </a:solidFill>
            <a:prstDash val="solid"/>
          </a:ln>
        </p:spPr>
      </p:sp>
      <p:sp>
        <p:nvSpPr>
          <p:cNvPr id="6" name="Shape 4"/>
          <p:cNvSpPr/>
          <p:nvPr/>
        </p:nvSpPr>
        <p:spPr>
          <a:xfrm>
            <a:off x="640080" y="2194560"/>
            <a:ext cx="2487168" cy="54864"/>
          </a:xfrm>
          <a:prstGeom prst="rect">
            <a:avLst/>
          </a:prstGeom>
          <a:solidFill>
            <a:srgbClr val="1E3A5F"/>
          </a:solidFill>
          <a:ln w="12700">
            <a:solidFill>
              <a:srgbClr val="1E3A5F"/>
            </a:solidFill>
            <a:prstDash val="solid"/>
          </a:ln>
        </p:spPr>
      </p:sp>
      <p:sp>
        <p:nvSpPr>
          <p:cNvPr id="7" name="Text 5"/>
          <p:cNvSpPr/>
          <p:nvPr/>
        </p:nvSpPr>
        <p:spPr>
          <a:xfrm>
            <a:off x="868680" y="2377440"/>
            <a:ext cx="2029968" cy="365760"/>
          </a:xfrm>
          <a:prstGeom prst="rect">
            <a:avLst/>
          </a:prstGeom>
          <a:noFill/>
          <a:ln/>
        </p:spPr>
        <p:txBody>
          <a:bodyPr wrap="square" lIns="0" tIns="0" rIns="0" bIns="0" rtlCol="0" anchor="t"/>
          <a:lstStyle/>
          <a:p>
            <a:pPr indent="0" marL="0">
              <a:buNone/>
            </a:pPr>
            <a:r>
              <a:rPr lang="en-US" sz="1600" b="1" dirty="0">
                <a:solidFill>
                  <a:srgbClr val="1E3A5F"/>
                </a:solidFill>
                <a:latin typeface="Noto Sans KR" pitchFamily="34" charset="0"/>
                <a:ea typeface="Noto Sans KR" pitchFamily="34" charset="-122"/>
                <a:cs typeface="Noto Sans KR" pitchFamily="34" charset="-120"/>
              </a:rPr>
              <a:t>알고리즘 트리거</a:t>
            </a:r>
            <a:endParaRPr lang="en-US" sz="1600" dirty="0"/>
          </a:p>
        </p:txBody>
      </p:sp>
      <p:sp>
        <p:nvSpPr>
          <p:cNvPr id="8" name="Text 6"/>
          <p:cNvSpPr/>
          <p:nvPr/>
        </p:nvSpPr>
        <p:spPr>
          <a:xfrm>
            <a:off x="868680" y="2834640"/>
            <a:ext cx="2029968" cy="1165860"/>
          </a:xfrm>
          <a:prstGeom prst="rect">
            <a:avLst/>
          </a:prstGeom>
          <a:noFill/>
          <a:ln/>
        </p:spPr>
        <p:txBody>
          <a:bodyPr wrap="square" lIns="0" tIns="0" rIns="0" bIns="0" rtlCol="0" anchor="t"/>
          <a:lstStyle/>
          <a:p>
            <a:pPr algn="just" indent="0" marL="0">
              <a:lnSpc>
                <a:spcPct val="115000"/>
              </a:lnSpc>
              <a:spcAft>
                <a:spcPts val="200"/>
              </a:spcAft>
              <a:buNone/>
            </a:pPr>
            <a:r>
              <a:rPr lang="en-US" sz="1100" dirty="0">
                <a:solidFill>
                  <a:srgbClr val="666666"/>
                </a:solidFill>
                <a:latin typeface="Noto Sans KR" pitchFamily="34" charset="0"/>
                <a:ea typeface="Noto Sans KR" pitchFamily="34" charset="-122"/>
                <a:cs typeface="Noto Sans KR" pitchFamily="34" charset="-120"/>
              </a:rPr>
              <a:t>추천 큐 진입과 이벤트 노출 우위가 위시리스트로 결정된다. 디스커버리 큐가 전체 트래픽의 45%를 차지하므로, 위시리스트 모멘텀이 곧 가시성이다. 팔로워 + 뉴스 포스트와 결합하면 효과가 배가된다.</a:t>
            </a:r>
            <a:endParaRPr lang="en-US" sz="1100" dirty="0"/>
          </a:p>
        </p:txBody>
      </p:sp>
      <p:sp>
        <p:nvSpPr>
          <p:cNvPr id="9" name="Text 7"/>
          <p:cNvSpPr/>
          <p:nvPr/>
        </p:nvSpPr>
        <p:spPr>
          <a:xfrm>
            <a:off x="868680" y="4137660"/>
            <a:ext cx="2029968" cy="292608"/>
          </a:xfrm>
          <a:prstGeom prst="rect">
            <a:avLst/>
          </a:prstGeom>
          <a:noFill/>
          <a:ln/>
        </p:spPr>
        <p:txBody>
          <a:bodyPr wrap="square" lIns="0" tIns="0" rIns="0" bIns="0" rtlCol="0" anchor="ctr"/>
          <a:lstStyle/>
          <a:p>
            <a:pPr indent="0" marL="0">
              <a:buNone/>
            </a:pPr>
            <a:r>
              <a:rPr lang="en-US" sz="1000" b="1" dirty="0">
                <a:solidFill>
                  <a:srgbClr val="C8A45C"/>
                </a:solidFill>
                <a:latin typeface="Consolas" pitchFamily="34" charset="0"/>
                <a:ea typeface="Consolas" pitchFamily="34" charset="-122"/>
                <a:cs typeface="Consolas" pitchFamily="34" charset="-120"/>
              </a:rPr>
              <a:t>디스커버리 큐 트래픽 45%</a:t>
            </a:r>
            <a:endParaRPr lang="en-US" sz="1000" dirty="0"/>
          </a:p>
        </p:txBody>
      </p:sp>
      <p:sp>
        <p:nvSpPr>
          <p:cNvPr id="10" name="Shape 8"/>
          <p:cNvSpPr/>
          <p:nvPr/>
        </p:nvSpPr>
        <p:spPr>
          <a:xfrm>
            <a:off x="3328416" y="2194560"/>
            <a:ext cx="2487168" cy="2446020"/>
          </a:xfrm>
          <a:prstGeom prst="rect">
            <a:avLst/>
          </a:prstGeom>
          <a:solidFill>
            <a:srgbClr val="F4F5F7"/>
          </a:solidFill>
          <a:ln w="9525">
            <a:solidFill>
              <a:srgbClr val="E0E3E8"/>
            </a:solidFill>
            <a:prstDash val="solid"/>
          </a:ln>
        </p:spPr>
      </p:sp>
      <p:sp>
        <p:nvSpPr>
          <p:cNvPr id="11" name="Shape 9"/>
          <p:cNvSpPr/>
          <p:nvPr/>
        </p:nvSpPr>
        <p:spPr>
          <a:xfrm>
            <a:off x="3328416" y="2194560"/>
            <a:ext cx="2487168" cy="54864"/>
          </a:xfrm>
          <a:prstGeom prst="rect">
            <a:avLst/>
          </a:prstGeom>
          <a:solidFill>
            <a:srgbClr val="1E3A5F"/>
          </a:solidFill>
          <a:ln w="12700">
            <a:solidFill>
              <a:srgbClr val="1E3A5F"/>
            </a:solidFill>
            <a:prstDash val="solid"/>
          </a:ln>
        </p:spPr>
      </p:sp>
      <p:sp>
        <p:nvSpPr>
          <p:cNvPr id="12" name="Text 10"/>
          <p:cNvSpPr/>
          <p:nvPr/>
        </p:nvSpPr>
        <p:spPr>
          <a:xfrm>
            <a:off x="3557016" y="2377440"/>
            <a:ext cx="2029968" cy="365760"/>
          </a:xfrm>
          <a:prstGeom prst="rect">
            <a:avLst/>
          </a:prstGeom>
          <a:noFill/>
          <a:ln/>
        </p:spPr>
        <p:txBody>
          <a:bodyPr wrap="square" lIns="0" tIns="0" rIns="0" bIns="0" rtlCol="0" anchor="t"/>
          <a:lstStyle/>
          <a:p>
            <a:pPr indent="0" marL="0">
              <a:buNone/>
            </a:pPr>
            <a:r>
              <a:rPr lang="en-US" sz="1600" b="1" dirty="0">
                <a:solidFill>
                  <a:srgbClr val="1E3A5F"/>
                </a:solidFill>
                <a:latin typeface="Noto Sans KR" pitchFamily="34" charset="0"/>
                <a:ea typeface="Noto Sans KR" pitchFamily="34" charset="-122"/>
                <a:cs typeface="Noto Sans KR" pitchFamily="34" charset="-120"/>
              </a:rPr>
              <a:t>자발적 70%+</a:t>
            </a:r>
            <a:endParaRPr lang="en-US" sz="1600" dirty="0"/>
          </a:p>
        </p:txBody>
      </p:sp>
      <p:sp>
        <p:nvSpPr>
          <p:cNvPr id="13" name="Text 11"/>
          <p:cNvSpPr/>
          <p:nvPr/>
        </p:nvSpPr>
        <p:spPr>
          <a:xfrm>
            <a:off x="3557016" y="2834640"/>
            <a:ext cx="2029968" cy="1165860"/>
          </a:xfrm>
          <a:prstGeom prst="rect">
            <a:avLst/>
          </a:prstGeom>
          <a:noFill/>
          <a:ln/>
        </p:spPr>
        <p:txBody>
          <a:bodyPr wrap="square" lIns="0" tIns="0" rIns="0" bIns="0" rtlCol="0" anchor="t"/>
          <a:lstStyle/>
          <a:p>
            <a:pPr algn="just" indent="0" marL="0">
              <a:lnSpc>
                <a:spcPct val="115000"/>
              </a:lnSpc>
              <a:spcAft>
                <a:spcPts val="200"/>
              </a:spcAft>
              <a:buNone/>
            </a:pPr>
            <a:r>
              <a:rPr lang="en-US" sz="1100" dirty="0">
                <a:solidFill>
                  <a:srgbClr val="666666"/>
                </a:solidFill>
                <a:latin typeface="Noto Sans KR" pitchFamily="34" charset="0"/>
                <a:ea typeface="Noto Sans KR" pitchFamily="34" charset="-122"/>
                <a:cs typeface="Noto Sans KR" pitchFamily="34" charset="-120"/>
              </a:rPr>
              <a:t>이벤트 보상으로 모은 위시리스트는 출시 전환율이 무너진다. Airbridge × Liquid Advertising 분석에 따르면 자발적 비중이 70% 미만이면 실제 구매로 이어지는 비율이 급락. 양보다 질이 핵심.</a:t>
            </a:r>
            <a:endParaRPr lang="en-US" sz="1100" dirty="0"/>
          </a:p>
        </p:txBody>
      </p:sp>
      <p:sp>
        <p:nvSpPr>
          <p:cNvPr id="14" name="Text 12"/>
          <p:cNvSpPr/>
          <p:nvPr/>
        </p:nvSpPr>
        <p:spPr>
          <a:xfrm>
            <a:off x="3557016" y="4137660"/>
            <a:ext cx="2029968" cy="292608"/>
          </a:xfrm>
          <a:prstGeom prst="rect">
            <a:avLst/>
          </a:prstGeom>
          <a:noFill/>
          <a:ln/>
        </p:spPr>
        <p:txBody>
          <a:bodyPr wrap="square" lIns="0" tIns="0" rIns="0" bIns="0" rtlCol="0" anchor="ctr"/>
          <a:lstStyle/>
          <a:p>
            <a:pPr indent="0" marL="0">
              <a:buNone/>
            </a:pPr>
            <a:r>
              <a:rPr lang="en-US" sz="1000" b="1" dirty="0">
                <a:solidFill>
                  <a:srgbClr val="C8A45C"/>
                </a:solidFill>
                <a:latin typeface="Consolas" pitchFamily="34" charset="0"/>
                <a:ea typeface="Consolas" pitchFamily="34" charset="-122"/>
                <a:cs typeface="Consolas" pitchFamily="34" charset="-120"/>
              </a:rPr>
              <a:t>70% 미만 = 출시 실망</a:t>
            </a:r>
            <a:endParaRPr lang="en-US" sz="1000" dirty="0"/>
          </a:p>
        </p:txBody>
      </p:sp>
      <p:sp>
        <p:nvSpPr>
          <p:cNvPr id="15" name="Shape 13"/>
          <p:cNvSpPr/>
          <p:nvPr/>
        </p:nvSpPr>
        <p:spPr>
          <a:xfrm>
            <a:off x="6016752" y="2194560"/>
            <a:ext cx="2487168" cy="2446020"/>
          </a:xfrm>
          <a:prstGeom prst="rect">
            <a:avLst/>
          </a:prstGeom>
          <a:solidFill>
            <a:srgbClr val="F4F5F7"/>
          </a:solidFill>
          <a:ln w="9525">
            <a:solidFill>
              <a:srgbClr val="E0E3E8"/>
            </a:solidFill>
            <a:prstDash val="solid"/>
          </a:ln>
        </p:spPr>
      </p:sp>
      <p:sp>
        <p:nvSpPr>
          <p:cNvPr id="16" name="Shape 14"/>
          <p:cNvSpPr/>
          <p:nvPr/>
        </p:nvSpPr>
        <p:spPr>
          <a:xfrm>
            <a:off x="6016752" y="2194560"/>
            <a:ext cx="2487168" cy="54864"/>
          </a:xfrm>
          <a:prstGeom prst="rect">
            <a:avLst/>
          </a:prstGeom>
          <a:solidFill>
            <a:srgbClr val="1E3A5F"/>
          </a:solidFill>
          <a:ln w="12700">
            <a:solidFill>
              <a:srgbClr val="1E3A5F"/>
            </a:solidFill>
            <a:prstDash val="solid"/>
          </a:ln>
        </p:spPr>
      </p:sp>
      <p:sp>
        <p:nvSpPr>
          <p:cNvPr id="17" name="Text 15"/>
          <p:cNvSpPr/>
          <p:nvPr/>
        </p:nvSpPr>
        <p:spPr>
          <a:xfrm>
            <a:off x="6245352" y="2377440"/>
            <a:ext cx="2029968" cy="365760"/>
          </a:xfrm>
          <a:prstGeom prst="rect">
            <a:avLst/>
          </a:prstGeom>
          <a:noFill/>
          <a:ln/>
        </p:spPr>
        <p:txBody>
          <a:bodyPr wrap="square" lIns="0" tIns="0" rIns="0" bIns="0" rtlCol="0" anchor="t"/>
          <a:lstStyle/>
          <a:p>
            <a:pPr indent="0" marL="0">
              <a:buNone/>
            </a:pPr>
            <a:r>
              <a:rPr lang="en-US" sz="1600" b="1" dirty="0">
                <a:solidFill>
                  <a:srgbClr val="1E3A5F"/>
                </a:solidFill>
                <a:latin typeface="Noto Sans KR" pitchFamily="34" charset="0"/>
                <a:ea typeface="Noto Sans KR" pitchFamily="34" charset="-122"/>
                <a:cs typeface="Noto Sans KR" pitchFamily="34" charset="-120"/>
              </a:rPr>
              <a:t>수치보다 모멘텀</a:t>
            </a:r>
            <a:endParaRPr lang="en-US" sz="1600" dirty="0"/>
          </a:p>
        </p:txBody>
      </p:sp>
      <p:sp>
        <p:nvSpPr>
          <p:cNvPr id="18" name="Text 16"/>
          <p:cNvSpPr/>
          <p:nvPr/>
        </p:nvSpPr>
        <p:spPr>
          <a:xfrm>
            <a:off x="6245352" y="2834640"/>
            <a:ext cx="2029968" cy="1165860"/>
          </a:xfrm>
          <a:prstGeom prst="rect">
            <a:avLst/>
          </a:prstGeom>
          <a:noFill/>
          <a:ln/>
        </p:spPr>
        <p:txBody>
          <a:bodyPr wrap="square" lIns="0" tIns="0" rIns="0" bIns="0" rtlCol="0" anchor="t"/>
          <a:lstStyle/>
          <a:p>
            <a:pPr algn="just" indent="0" marL="0">
              <a:lnSpc>
                <a:spcPct val="115000"/>
              </a:lnSpc>
              <a:spcAft>
                <a:spcPts val="200"/>
              </a:spcAft>
              <a:buNone/>
            </a:pPr>
            <a:r>
              <a:rPr lang="en-US" sz="1100" dirty="0">
                <a:solidFill>
                  <a:srgbClr val="666666"/>
                </a:solidFill>
                <a:latin typeface="Noto Sans KR" pitchFamily="34" charset="0"/>
                <a:ea typeface="Noto Sans KR" pitchFamily="34" charset="-122"/>
                <a:cs typeface="Noto Sans KR" pitchFamily="34" charset="-120"/>
              </a:rPr>
              <a:t>스팀이 보는 건 절대 수치가 아니라 증가율의 지속성이다. 오래된 위시리스트는 추천 알고리즘 가중치가 감소하므로, 주기적 업데이트·뉴스 포스트로 코어 오디언스의 관심을 재점화하는 게 핵심.</a:t>
            </a:r>
            <a:endParaRPr lang="en-US" sz="1100" dirty="0"/>
          </a:p>
        </p:txBody>
      </p:sp>
      <p:sp>
        <p:nvSpPr>
          <p:cNvPr id="19" name="Text 17"/>
          <p:cNvSpPr/>
          <p:nvPr/>
        </p:nvSpPr>
        <p:spPr>
          <a:xfrm>
            <a:off x="6245352" y="4137660"/>
            <a:ext cx="2029968" cy="292608"/>
          </a:xfrm>
          <a:prstGeom prst="rect">
            <a:avLst/>
          </a:prstGeom>
          <a:noFill/>
          <a:ln/>
        </p:spPr>
        <p:txBody>
          <a:bodyPr wrap="square" lIns="0" tIns="0" rIns="0" bIns="0" rtlCol="0" anchor="ctr"/>
          <a:lstStyle/>
          <a:p>
            <a:pPr indent="0" marL="0">
              <a:buNone/>
            </a:pPr>
            <a:r>
              <a:rPr lang="en-US" sz="1000" b="1" dirty="0">
                <a:solidFill>
                  <a:srgbClr val="C8A45C"/>
                </a:solidFill>
                <a:latin typeface="Consolas" pitchFamily="34" charset="0"/>
                <a:ea typeface="Consolas" pitchFamily="34" charset="-122"/>
                <a:cs typeface="Consolas" pitchFamily="34" charset="-120"/>
              </a:rPr>
              <a:t>주기적 관심 유도 필수</a:t>
            </a:r>
            <a:endParaRPr lang="en-US" sz="1000" dirty="0"/>
          </a:p>
        </p:txBody>
      </p:sp>
      <p:sp>
        <p:nvSpPr>
          <p:cNvPr id="21" name="Text 18"/>
          <p:cNvSpPr/>
          <p:nvPr/>
        </p:nvSpPr>
        <p:spPr>
          <a:xfrm>
            <a:off x="8046720" y="4777740"/>
            <a:ext cx="822960" cy="228600"/>
          </a:xfrm>
          <a:prstGeom prst="rect">
            <a:avLst/>
          </a:prstGeom>
          <a:noFill/>
          <a:ln/>
        </p:spPr>
        <p:txBody>
          <a:bodyPr wrap="square" lIns="0" tIns="0" rIns="0" bIns="0" rtlCol="0" anchor="ctr"/>
          <a:lstStyle/>
          <a:p>
            <a:pPr algn="r" indent="0" marL="0">
              <a:buNone/>
            </a:pPr>
            <a:r>
              <a:rPr lang="en-US" sz="900" dirty="0">
                <a:solidFill>
                  <a:srgbClr val="999999"/>
                </a:solidFill>
                <a:latin typeface="Consolas" pitchFamily="34" charset="0"/>
                <a:ea typeface="Consolas" pitchFamily="34" charset="-122"/>
                <a:cs typeface="Consolas" pitchFamily="34" charset="-120"/>
              </a:rPr>
              <a:t>6 / 15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7863840" cy="457200"/>
          </a:xfrm>
          <a:prstGeom prst="rect">
            <a:avLst/>
          </a:prstGeom>
          <a:noFill/>
          <a:ln/>
        </p:spPr>
        <p:txBody>
          <a:bodyPr wrap="square" lIns="0" tIns="0" rIns="0" bIns="0" rtlCol="0" anchor="t"/>
          <a:lstStyle/>
          <a:p>
            <a:pPr algn="l" indent="0" marL="0">
              <a:buNone/>
            </a:pPr>
            <a:r>
              <a:rPr lang="en-US" sz="2600" b="1" dirty="0">
                <a:solidFill>
                  <a:srgbClr val="1E3A5F"/>
                </a:solidFill>
                <a:latin typeface="Noto Sans KR" pitchFamily="34" charset="0"/>
                <a:ea typeface="Noto Sans KR" pitchFamily="34" charset="-122"/>
                <a:cs typeface="Noto Sans KR" pitchFamily="34" charset="-120"/>
              </a:rPr>
              <a:t>출시까지의 4단계</a:t>
            </a:r>
            <a:endParaRPr lang="en-US" sz="2600" dirty="0"/>
          </a:p>
        </p:txBody>
      </p:sp>
      <p:sp>
        <p:nvSpPr>
          <p:cNvPr id="3" name="Shape 1"/>
          <p:cNvSpPr/>
          <p:nvPr/>
        </p:nvSpPr>
        <p:spPr>
          <a:xfrm>
            <a:off x="640080" y="886968"/>
            <a:ext cx="658368" cy="22860"/>
          </a:xfrm>
          <a:prstGeom prst="rect">
            <a:avLst/>
          </a:prstGeom>
          <a:solidFill>
            <a:srgbClr val="C8A45C"/>
          </a:solidFill>
          <a:ln w="12700">
            <a:solidFill>
              <a:srgbClr val="C8A45C"/>
            </a:solidFill>
            <a:prstDash val="solid"/>
          </a:ln>
        </p:spPr>
      </p:sp>
      <p:sp>
        <p:nvSpPr>
          <p:cNvPr id="4" name="Text 2"/>
          <p:cNvSpPr/>
          <p:nvPr/>
        </p:nvSpPr>
        <p:spPr>
          <a:xfrm>
            <a:off x="914400" y="1280160"/>
            <a:ext cx="7315200" cy="365760"/>
          </a:xfrm>
          <a:prstGeom prst="rect">
            <a:avLst/>
          </a:prstGeom>
          <a:noFill/>
          <a:ln/>
        </p:spPr>
        <p:txBody>
          <a:bodyPr wrap="square" lIns="0" tIns="0" rIns="0" bIns="0" rtlCol="0" anchor="ctr"/>
          <a:lstStyle/>
          <a:p>
            <a:pPr algn="ctr" indent="0" marL="0">
              <a:buNone/>
            </a:pPr>
            <a:r>
              <a:rPr lang="en-US" sz="1300" i="1" dirty="0">
                <a:solidFill>
                  <a:srgbClr val="1E3A5F"/>
                </a:solidFill>
                <a:latin typeface="Noto Sans KR" pitchFamily="34" charset="0"/>
                <a:ea typeface="Noto Sans KR" pitchFamily="34" charset="-122"/>
                <a:cs typeface="Noto Sans KR" pitchFamily="34" charset="-120"/>
              </a:rPr>
              <a:t>"모든 마케팅 활동은 데모에 비하면 미미하다" — Chris Zukowski</a:t>
            </a:r>
            <a:endParaRPr lang="en-US" sz="1300" dirty="0"/>
          </a:p>
        </p:txBody>
      </p:sp>
      <p:sp>
        <p:nvSpPr>
          <p:cNvPr id="5" name="Text 3"/>
          <p:cNvSpPr/>
          <p:nvPr/>
        </p:nvSpPr>
        <p:spPr>
          <a:xfrm>
            <a:off x="914400" y="1691640"/>
            <a:ext cx="7315200" cy="640080"/>
          </a:xfrm>
          <a:prstGeom prst="rect">
            <a:avLst/>
          </a:prstGeom>
          <a:noFill/>
          <a:ln/>
        </p:spPr>
        <p:txBody>
          <a:bodyPr wrap="square" lIns="0" tIns="0" rIns="0" bIns="0" rtlCol="0" anchor="t"/>
          <a:lstStyle/>
          <a:p>
            <a:pPr algn="ctr" indent="0" marL="0">
              <a:spcAft>
                <a:spcPts val="200"/>
              </a:spcAft>
              <a:buNone/>
            </a:pPr>
            <a:r>
              <a:rPr lang="en-US" sz="1200" dirty="0">
                <a:solidFill>
                  <a:srgbClr val="666666"/>
                </a:solidFill>
                <a:latin typeface="Noto Sans KR" pitchFamily="34" charset="0"/>
                <a:ea typeface="Noto Sans KR" pitchFamily="34" charset="-122"/>
                <a:cs typeface="Noto Sans KR" pitchFamily="34" charset="-120"/>
              </a:rPr>
              <a:t>데모는 출시 한 달 전 공개하는 프로모션이 아니라 마케팅의 본체다. 넥스트 페스트는 시작점이 아니라 그랜드 피날레 — 그 전에 코어 오디언스가 충분히 누적돼 있어야 한다.</a:t>
            </a:r>
            <a:endParaRPr lang="en-US" sz="1200" dirty="0"/>
          </a:p>
        </p:txBody>
      </p:sp>
      <p:sp>
        <p:nvSpPr>
          <p:cNvPr id="6" name="Shape 4"/>
          <p:cNvSpPr/>
          <p:nvPr/>
        </p:nvSpPr>
        <p:spPr>
          <a:xfrm>
            <a:off x="1332738" y="2423160"/>
            <a:ext cx="457200" cy="457200"/>
          </a:xfrm>
          <a:prstGeom prst="ellipse">
            <a:avLst/>
          </a:prstGeom>
          <a:solidFill>
            <a:srgbClr val="1E3A5F"/>
          </a:solidFill>
          <a:ln w="12700">
            <a:solidFill>
              <a:srgbClr val="1E3A5F"/>
            </a:solidFill>
            <a:prstDash val="solid"/>
          </a:ln>
        </p:spPr>
      </p:sp>
      <p:sp>
        <p:nvSpPr>
          <p:cNvPr id="7" name="Text 5"/>
          <p:cNvSpPr/>
          <p:nvPr/>
        </p:nvSpPr>
        <p:spPr>
          <a:xfrm>
            <a:off x="1332738" y="242316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onsolas" pitchFamily="34" charset="0"/>
                <a:ea typeface="Consolas" pitchFamily="34" charset="-122"/>
                <a:cs typeface="Consolas" pitchFamily="34" charset="-120"/>
              </a:rPr>
              <a:t>1</a:t>
            </a:r>
            <a:endParaRPr lang="en-US" sz="1800" dirty="0"/>
          </a:p>
        </p:txBody>
      </p:sp>
      <p:sp>
        <p:nvSpPr>
          <p:cNvPr id="8" name="Text 6"/>
          <p:cNvSpPr/>
          <p:nvPr/>
        </p:nvSpPr>
        <p:spPr>
          <a:xfrm>
            <a:off x="640080" y="3017520"/>
            <a:ext cx="1842516" cy="365760"/>
          </a:xfrm>
          <a:prstGeom prst="rect">
            <a:avLst/>
          </a:prstGeom>
          <a:noFill/>
          <a:ln/>
        </p:spPr>
        <p:txBody>
          <a:bodyPr wrap="square" lIns="0" tIns="0" rIns="0" bIns="0" rtlCol="0" anchor="t"/>
          <a:lstStyle/>
          <a:p>
            <a:pPr algn="ctr" indent="0" marL="0">
              <a:buNone/>
            </a:pPr>
            <a:r>
              <a:rPr lang="en-US" sz="1500" b="1" dirty="0">
                <a:solidFill>
                  <a:srgbClr val="333333"/>
                </a:solidFill>
                <a:latin typeface="Noto Sans KR" pitchFamily="34" charset="0"/>
                <a:ea typeface="Noto Sans KR" pitchFamily="34" charset="-122"/>
                <a:cs typeface="Noto Sans KR" pitchFamily="34" charset="-120"/>
              </a:rPr>
              <a:t>데모 공개</a:t>
            </a:r>
            <a:endParaRPr lang="en-US" sz="1500" dirty="0"/>
          </a:p>
        </p:txBody>
      </p:sp>
      <p:sp>
        <p:nvSpPr>
          <p:cNvPr id="9" name="Text 7"/>
          <p:cNvSpPr/>
          <p:nvPr/>
        </p:nvSpPr>
        <p:spPr>
          <a:xfrm>
            <a:off x="640080" y="3429000"/>
            <a:ext cx="1842516" cy="1165860"/>
          </a:xfrm>
          <a:prstGeom prst="rect">
            <a:avLst/>
          </a:prstGeom>
          <a:noFill/>
          <a:ln/>
        </p:spPr>
        <p:txBody>
          <a:bodyPr wrap="square" lIns="0" tIns="0" rIns="0" bIns="0" rtlCol="0" anchor="t"/>
          <a:lstStyle/>
          <a:p>
            <a:pPr algn="ctr" indent="0" marL="0">
              <a:lnSpc>
                <a:spcPct val="125000"/>
              </a:lnSpc>
              <a:spcAft>
                <a:spcPts val="200"/>
              </a:spcAft>
              <a:buNone/>
            </a:pPr>
            <a:r>
              <a:rPr lang="en-US" sz="1100" dirty="0">
                <a:solidFill>
                  <a:srgbClr val="666666"/>
                </a:solidFill>
                <a:latin typeface="Noto Sans KR" pitchFamily="34" charset="0"/>
                <a:ea typeface="Noto Sans KR" pitchFamily="34" charset="-122"/>
                <a:cs typeface="Noto Sans KR" pitchFamily="34" charset="-120"/>
              </a:rPr>
              <a:t>개발 초기부터 공개해 코어 오디언스 확보. shadow-drop은 비추천 — 행사 1개월 이상 전 미리 출시한 게임이 일관되게 우수.</a:t>
            </a:r>
            <a:endParaRPr lang="en-US" sz="1100" dirty="0"/>
          </a:p>
        </p:txBody>
      </p:sp>
      <p:sp>
        <p:nvSpPr>
          <p:cNvPr id="10" name="Shape 8"/>
          <p:cNvSpPr/>
          <p:nvPr/>
        </p:nvSpPr>
        <p:spPr>
          <a:xfrm>
            <a:off x="3339846" y="2423160"/>
            <a:ext cx="457200" cy="457200"/>
          </a:xfrm>
          <a:prstGeom prst="ellipse">
            <a:avLst/>
          </a:prstGeom>
          <a:solidFill>
            <a:srgbClr val="1E3A5F"/>
          </a:solidFill>
          <a:ln w="12700">
            <a:solidFill>
              <a:srgbClr val="1E3A5F"/>
            </a:solidFill>
            <a:prstDash val="solid"/>
          </a:ln>
        </p:spPr>
      </p:sp>
      <p:sp>
        <p:nvSpPr>
          <p:cNvPr id="11" name="Text 9"/>
          <p:cNvSpPr/>
          <p:nvPr/>
        </p:nvSpPr>
        <p:spPr>
          <a:xfrm>
            <a:off x="3339846" y="242316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onsolas" pitchFamily="34" charset="0"/>
                <a:ea typeface="Consolas" pitchFamily="34" charset="-122"/>
                <a:cs typeface="Consolas" pitchFamily="34" charset="-120"/>
              </a:rPr>
              <a:t>2</a:t>
            </a:r>
            <a:endParaRPr lang="en-US" sz="1800" dirty="0"/>
          </a:p>
        </p:txBody>
      </p:sp>
      <p:sp>
        <p:nvSpPr>
          <p:cNvPr id="12" name="Text 10"/>
          <p:cNvSpPr/>
          <p:nvPr/>
        </p:nvSpPr>
        <p:spPr>
          <a:xfrm>
            <a:off x="2647188" y="3017520"/>
            <a:ext cx="1842516" cy="365760"/>
          </a:xfrm>
          <a:prstGeom prst="rect">
            <a:avLst/>
          </a:prstGeom>
          <a:noFill/>
          <a:ln/>
        </p:spPr>
        <p:txBody>
          <a:bodyPr wrap="square" lIns="0" tIns="0" rIns="0" bIns="0" rtlCol="0" anchor="t"/>
          <a:lstStyle/>
          <a:p>
            <a:pPr algn="ctr" indent="0" marL="0">
              <a:buNone/>
            </a:pPr>
            <a:r>
              <a:rPr lang="en-US" sz="1500" b="1" dirty="0">
                <a:solidFill>
                  <a:srgbClr val="333333"/>
                </a:solidFill>
                <a:latin typeface="Noto Sans KR" pitchFamily="34" charset="0"/>
                <a:ea typeface="Noto Sans KR" pitchFamily="34" charset="-122"/>
                <a:cs typeface="Noto Sans KR" pitchFamily="34" charset="-120"/>
              </a:rPr>
              <a:t>플레이테스트</a:t>
            </a:r>
            <a:endParaRPr lang="en-US" sz="1500" dirty="0"/>
          </a:p>
        </p:txBody>
      </p:sp>
      <p:sp>
        <p:nvSpPr>
          <p:cNvPr id="13" name="Text 11"/>
          <p:cNvSpPr/>
          <p:nvPr/>
        </p:nvSpPr>
        <p:spPr>
          <a:xfrm>
            <a:off x="2647188" y="3429000"/>
            <a:ext cx="1842516" cy="1165860"/>
          </a:xfrm>
          <a:prstGeom prst="rect">
            <a:avLst/>
          </a:prstGeom>
          <a:noFill/>
          <a:ln/>
        </p:spPr>
        <p:txBody>
          <a:bodyPr wrap="square" lIns="0" tIns="0" rIns="0" bIns="0" rtlCol="0" anchor="t"/>
          <a:lstStyle/>
          <a:p>
            <a:pPr algn="ctr" indent="0" marL="0">
              <a:lnSpc>
                <a:spcPct val="125000"/>
              </a:lnSpc>
              <a:spcAft>
                <a:spcPts val="200"/>
              </a:spcAft>
              <a:buNone/>
            </a:pPr>
            <a:r>
              <a:rPr lang="en-US" sz="1100" dirty="0">
                <a:solidFill>
                  <a:srgbClr val="666666"/>
                </a:solidFill>
                <a:latin typeface="Noto Sans KR" pitchFamily="34" charset="0"/>
                <a:ea typeface="Noto Sans KR" pitchFamily="34" charset="-122"/>
                <a:cs typeface="Noto Sans KR" pitchFamily="34" charset="-120"/>
              </a:rPr>
              <a:t>피드백을 빌드에 반영하고 데모를 주기적으로 업데이트. 위시리스트 알림 메일이 코어 유저를 다시 끌어온다.</a:t>
            </a:r>
            <a:endParaRPr lang="en-US" sz="1100" dirty="0"/>
          </a:p>
        </p:txBody>
      </p:sp>
      <p:sp>
        <p:nvSpPr>
          <p:cNvPr id="14" name="Shape 12"/>
          <p:cNvSpPr/>
          <p:nvPr/>
        </p:nvSpPr>
        <p:spPr>
          <a:xfrm>
            <a:off x="5346954" y="2423160"/>
            <a:ext cx="457200" cy="457200"/>
          </a:xfrm>
          <a:prstGeom prst="ellipse">
            <a:avLst/>
          </a:prstGeom>
          <a:solidFill>
            <a:srgbClr val="1E3A5F"/>
          </a:solidFill>
          <a:ln w="12700">
            <a:solidFill>
              <a:srgbClr val="1E3A5F"/>
            </a:solidFill>
            <a:prstDash val="solid"/>
          </a:ln>
        </p:spPr>
      </p:sp>
      <p:sp>
        <p:nvSpPr>
          <p:cNvPr id="15" name="Text 13"/>
          <p:cNvSpPr/>
          <p:nvPr/>
        </p:nvSpPr>
        <p:spPr>
          <a:xfrm>
            <a:off x="5346954" y="242316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onsolas" pitchFamily="34" charset="0"/>
                <a:ea typeface="Consolas" pitchFamily="34" charset="-122"/>
                <a:cs typeface="Consolas" pitchFamily="34" charset="-120"/>
              </a:rPr>
              <a:t>3</a:t>
            </a:r>
            <a:endParaRPr lang="en-US" sz="1800" dirty="0"/>
          </a:p>
        </p:txBody>
      </p:sp>
      <p:sp>
        <p:nvSpPr>
          <p:cNvPr id="16" name="Text 14"/>
          <p:cNvSpPr/>
          <p:nvPr/>
        </p:nvSpPr>
        <p:spPr>
          <a:xfrm>
            <a:off x="4654296" y="3017520"/>
            <a:ext cx="1842516" cy="365760"/>
          </a:xfrm>
          <a:prstGeom prst="rect">
            <a:avLst/>
          </a:prstGeom>
          <a:noFill/>
          <a:ln/>
        </p:spPr>
        <p:txBody>
          <a:bodyPr wrap="square" lIns="0" tIns="0" rIns="0" bIns="0" rtlCol="0" anchor="t"/>
          <a:lstStyle/>
          <a:p>
            <a:pPr algn="ctr" indent="0" marL="0">
              <a:buNone/>
            </a:pPr>
            <a:r>
              <a:rPr lang="en-US" sz="1500" b="1" dirty="0">
                <a:solidFill>
                  <a:srgbClr val="333333"/>
                </a:solidFill>
                <a:latin typeface="Noto Sans KR" pitchFamily="34" charset="0"/>
                <a:ea typeface="Noto Sans KR" pitchFamily="34" charset="-122"/>
                <a:cs typeface="Noto Sans KR" pitchFamily="34" charset="-120"/>
              </a:rPr>
              <a:t>넥스트 페스트</a:t>
            </a:r>
            <a:endParaRPr lang="en-US" sz="1500" dirty="0"/>
          </a:p>
        </p:txBody>
      </p:sp>
      <p:sp>
        <p:nvSpPr>
          <p:cNvPr id="17" name="Text 15"/>
          <p:cNvSpPr/>
          <p:nvPr/>
        </p:nvSpPr>
        <p:spPr>
          <a:xfrm>
            <a:off x="4654296" y="3429000"/>
            <a:ext cx="1842516" cy="1165860"/>
          </a:xfrm>
          <a:prstGeom prst="rect">
            <a:avLst/>
          </a:prstGeom>
          <a:noFill/>
          <a:ln/>
        </p:spPr>
        <p:txBody>
          <a:bodyPr wrap="square" lIns="0" tIns="0" rIns="0" bIns="0" rtlCol="0" anchor="t"/>
          <a:lstStyle/>
          <a:p>
            <a:pPr algn="ctr" indent="0" marL="0">
              <a:lnSpc>
                <a:spcPct val="125000"/>
              </a:lnSpc>
              <a:spcAft>
                <a:spcPts val="200"/>
              </a:spcAft>
              <a:buNone/>
            </a:pPr>
            <a:r>
              <a:rPr lang="en-US" sz="1100" dirty="0">
                <a:solidFill>
                  <a:srgbClr val="666666"/>
                </a:solidFill>
                <a:latin typeface="Noto Sans KR" pitchFamily="34" charset="0"/>
                <a:ea typeface="Noto Sans KR" pitchFamily="34" charset="-122"/>
                <a:cs typeface="Noto Sans KR" pitchFamily="34" charset="-120"/>
              </a:rPr>
              <a:t>그랜드 피날레 — 시작이 아니다. 사전 위시리스트 2,000개 이상 확보 후 입장이 원칙. 결과는 입장 전에 절반이 결정된다.</a:t>
            </a:r>
            <a:endParaRPr lang="en-US" sz="1100" dirty="0"/>
          </a:p>
        </p:txBody>
      </p:sp>
      <p:sp>
        <p:nvSpPr>
          <p:cNvPr id="18" name="Shape 16"/>
          <p:cNvSpPr/>
          <p:nvPr/>
        </p:nvSpPr>
        <p:spPr>
          <a:xfrm>
            <a:off x="7354062" y="2423160"/>
            <a:ext cx="457200" cy="457200"/>
          </a:xfrm>
          <a:prstGeom prst="ellipse">
            <a:avLst/>
          </a:prstGeom>
          <a:solidFill>
            <a:srgbClr val="1E3A5F"/>
          </a:solidFill>
          <a:ln w="12700">
            <a:solidFill>
              <a:srgbClr val="1E3A5F"/>
            </a:solidFill>
            <a:prstDash val="solid"/>
          </a:ln>
        </p:spPr>
      </p:sp>
      <p:sp>
        <p:nvSpPr>
          <p:cNvPr id="19" name="Text 17"/>
          <p:cNvSpPr/>
          <p:nvPr/>
        </p:nvSpPr>
        <p:spPr>
          <a:xfrm>
            <a:off x="7354062" y="242316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onsolas" pitchFamily="34" charset="0"/>
                <a:ea typeface="Consolas" pitchFamily="34" charset="-122"/>
                <a:cs typeface="Consolas" pitchFamily="34" charset="-120"/>
              </a:rPr>
              <a:t>4</a:t>
            </a:r>
            <a:endParaRPr lang="en-US" sz="1800" dirty="0"/>
          </a:p>
        </p:txBody>
      </p:sp>
      <p:sp>
        <p:nvSpPr>
          <p:cNvPr id="20" name="Text 18"/>
          <p:cNvSpPr/>
          <p:nvPr/>
        </p:nvSpPr>
        <p:spPr>
          <a:xfrm>
            <a:off x="6661404" y="3017520"/>
            <a:ext cx="1842516" cy="365760"/>
          </a:xfrm>
          <a:prstGeom prst="rect">
            <a:avLst/>
          </a:prstGeom>
          <a:noFill/>
          <a:ln/>
        </p:spPr>
        <p:txBody>
          <a:bodyPr wrap="square" lIns="0" tIns="0" rIns="0" bIns="0" rtlCol="0" anchor="t"/>
          <a:lstStyle/>
          <a:p>
            <a:pPr algn="ctr" indent="0" marL="0">
              <a:buNone/>
            </a:pPr>
            <a:r>
              <a:rPr lang="en-US" sz="1500" b="1" dirty="0">
                <a:solidFill>
                  <a:srgbClr val="333333"/>
                </a:solidFill>
                <a:latin typeface="Noto Sans KR" pitchFamily="34" charset="0"/>
                <a:ea typeface="Noto Sans KR" pitchFamily="34" charset="-122"/>
                <a:cs typeface="Noto Sans KR" pitchFamily="34" charset="-120"/>
              </a:rPr>
              <a:t>출시</a:t>
            </a:r>
            <a:endParaRPr lang="en-US" sz="1500" dirty="0"/>
          </a:p>
        </p:txBody>
      </p:sp>
      <p:sp>
        <p:nvSpPr>
          <p:cNvPr id="21" name="Text 19"/>
          <p:cNvSpPr/>
          <p:nvPr/>
        </p:nvSpPr>
        <p:spPr>
          <a:xfrm>
            <a:off x="6661404" y="3429000"/>
            <a:ext cx="1842516" cy="1165860"/>
          </a:xfrm>
          <a:prstGeom prst="rect">
            <a:avLst/>
          </a:prstGeom>
          <a:noFill/>
          <a:ln/>
        </p:spPr>
        <p:txBody>
          <a:bodyPr wrap="square" lIns="0" tIns="0" rIns="0" bIns="0" rtlCol="0" anchor="t"/>
          <a:lstStyle/>
          <a:p>
            <a:pPr algn="ctr" indent="0" marL="0">
              <a:lnSpc>
                <a:spcPct val="125000"/>
              </a:lnSpc>
              <a:spcAft>
                <a:spcPts val="200"/>
              </a:spcAft>
              <a:buNone/>
            </a:pPr>
            <a:r>
              <a:rPr lang="en-US" sz="1100" dirty="0">
                <a:solidFill>
                  <a:srgbClr val="666666"/>
                </a:solidFill>
                <a:latin typeface="Noto Sans KR" pitchFamily="34" charset="0"/>
                <a:ea typeface="Noto Sans KR" pitchFamily="34" charset="-122"/>
                <a:cs typeface="Noto Sans KR" pitchFamily="34" charset="-120"/>
              </a:rPr>
              <a:t>첫 2일 25,000회 노출이 분기점. 3일째 성과가 이후 6개월의 디스커버리 큐 가시성을 결정짓는다.</a:t>
            </a:r>
            <a:endParaRPr lang="en-US" sz="1100" dirty="0"/>
          </a:p>
        </p:txBody>
      </p:sp>
      <p:sp>
        <p:nvSpPr>
          <p:cNvPr id="23" name="Text 20"/>
          <p:cNvSpPr/>
          <p:nvPr/>
        </p:nvSpPr>
        <p:spPr>
          <a:xfrm>
            <a:off x="8046720" y="4777740"/>
            <a:ext cx="822960" cy="228600"/>
          </a:xfrm>
          <a:prstGeom prst="rect">
            <a:avLst/>
          </a:prstGeom>
          <a:noFill/>
          <a:ln/>
        </p:spPr>
        <p:txBody>
          <a:bodyPr wrap="square" lIns="0" tIns="0" rIns="0" bIns="0" rtlCol="0" anchor="ctr"/>
          <a:lstStyle/>
          <a:p>
            <a:pPr algn="r" indent="0" marL="0">
              <a:buNone/>
            </a:pPr>
            <a:r>
              <a:rPr lang="en-US" sz="900" dirty="0">
                <a:solidFill>
                  <a:srgbClr val="999999"/>
                </a:solidFill>
                <a:latin typeface="Consolas" pitchFamily="34" charset="0"/>
                <a:ea typeface="Consolas" pitchFamily="34" charset="-122"/>
                <a:cs typeface="Consolas" pitchFamily="34" charset="-120"/>
              </a:rPr>
              <a:t>7 / 15</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7863840" cy="457200"/>
          </a:xfrm>
          <a:prstGeom prst="rect">
            <a:avLst/>
          </a:prstGeom>
          <a:noFill/>
          <a:ln/>
        </p:spPr>
        <p:txBody>
          <a:bodyPr wrap="square" lIns="0" tIns="0" rIns="0" bIns="0" rtlCol="0" anchor="t"/>
          <a:lstStyle/>
          <a:p>
            <a:pPr algn="l" indent="0" marL="0">
              <a:buNone/>
            </a:pPr>
            <a:r>
              <a:rPr lang="en-US" sz="2600" b="1" dirty="0">
                <a:solidFill>
                  <a:srgbClr val="1E3A5F"/>
                </a:solidFill>
                <a:latin typeface="Noto Sans KR" pitchFamily="34" charset="0"/>
                <a:ea typeface="Noto Sans KR" pitchFamily="34" charset="-122"/>
                <a:cs typeface="Noto Sans KR" pitchFamily="34" charset="-120"/>
              </a:rPr>
              <a:t>넥스트 페스트 — 사전 위시리스트가 결정한다</a:t>
            </a:r>
            <a:endParaRPr lang="en-US" sz="2600" dirty="0"/>
          </a:p>
        </p:txBody>
      </p:sp>
      <p:sp>
        <p:nvSpPr>
          <p:cNvPr id="3" name="Shape 1"/>
          <p:cNvSpPr/>
          <p:nvPr/>
        </p:nvSpPr>
        <p:spPr>
          <a:xfrm>
            <a:off x="640080" y="886968"/>
            <a:ext cx="658368" cy="22860"/>
          </a:xfrm>
          <a:prstGeom prst="rect">
            <a:avLst/>
          </a:prstGeom>
          <a:solidFill>
            <a:srgbClr val="C8A45C"/>
          </a:solidFill>
          <a:ln w="12700">
            <a:solidFill>
              <a:srgbClr val="C8A45C"/>
            </a:solidFill>
            <a:prstDash val="solid"/>
          </a:ln>
        </p:spPr>
      </p:sp>
      <p:sp>
        <p:nvSpPr>
          <p:cNvPr id="4" name="Text 2"/>
          <p:cNvSpPr/>
          <p:nvPr/>
        </p:nvSpPr>
        <p:spPr>
          <a:xfrm>
            <a:off x="914400" y="1280160"/>
            <a:ext cx="7315200" cy="320040"/>
          </a:xfrm>
          <a:prstGeom prst="rect">
            <a:avLst/>
          </a:prstGeom>
          <a:noFill/>
          <a:ln/>
        </p:spPr>
        <p:txBody>
          <a:bodyPr wrap="square" lIns="0" tIns="0" rIns="0" bIns="0" rtlCol="0" anchor="t"/>
          <a:lstStyle/>
          <a:p>
            <a:pPr algn="ctr" indent="0" marL="0">
              <a:buNone/>
            </a:pPr>
            <a:r>
              <a:rPr lang="en-US" sz="1200" dirty="0">
                <a:solidFill>
                  <a:srgbClr val="666666"/>
                </a:solidFill>
                <a:latin typeface="Noto Sans KR" pitchFamily="34" charset="0"/>
                <a:ea typeface="Noto Sans KR" pitchFamily="34" charset="-122"/>
                <a:cs typeface="Noto Sans KR" pitchFamily="34" charset="-120"/>
              </a:rPr>
              <a:t>사전 위시리스트별 행사 중 신규 위시리스트 중간값</a:t>
            </a:r>
            <a:endParaRPr lang="en-US" sz="1200" dirty="0"/>
          </a:p>
        </p:txBody>
      </p:sp>
      <p:sp>
        <p:nvSpPr>
          <p:cNvPr id="5" name="Shape 3"/>
          <p:cNvSpPr/>
          <p:nvPr/>
        </p:nvSpPr>
        <p:spPr>
          <a:xfrm>
            <a:off x="1371600" y="3337560"/>
            <a:ext cx="6400800" cy="0"/>
          </a:xfrm>
          <a:prstGeom prst="line">
            <a:avLst/>
          </a:prstGeom>
          <a:noFill/>
          <a:ln w="9525">
            <a:solidFill>
              <a:srgbClr val="E0E3E8"/>
            </a:solidFill>
            <a:prstDash val="solid"/>
          </a:ln>
        </p:spPr>
      </p:sp>
      <p:sp>
        <p:nvSpPr>
          <p:cNvPr id="6" name="Shape 4"/>
          <p:cNvSpPr/>
          <p:nvPr/>
        </p:nvSpPr>
        <p:spPr>
          <a:xfrm>
            <a:off x="1371600" y="3081528"/>
            <a:ext cx="1325880" cy="256032"/>
          </a:xfrm>
          <a:prstGeom prst="rect">
            <a:avLst/>
          </a:prstGeom>
          <a:solidFill>
            <a:srgbClr val="B0B7C2"/>
          </a:solidFill>
          <a:ln w="12700">
            <a:solidFill>
              <a:srgbClr val="B0B7C2"/>
            </a:solidFill>
            <a:prstDash val="solid"/>
          </a:ln>
        </p:spPr>
      </p:sp>
      <p:sp>
        <p:nvSpPr>
          <p:cNvPr id="7" name="Text 5"/>
          <p:cNvSpPr/>
          <p:nvPr/>
        </p:nvSpPr>
        <p:spPr>
          <a:xfrm>
            <a:off x="1280160" y="2752344"/>
            <a:ext cx="1508760" cy="274320"/>
          </a:xfrm>
          <a:prstGeom prst="rect">
            <a:avLst/>
          </a:prstGeom>
          <a:noFill/>
          <a:ln/>
        </p:spPr>
        <p:txBody>
          <a:bodyPr wrap="square" lIns="0" tIns="0" rIns="0" bIns="0" rtlCol="0" anchor="b"/>
          <a:lstStyle/>
          <a:p>
            <a:pPr algn="ctr" indent="0" marL="0">
              <a:buNone/>
            </a:pPr>
            <a:r>
              <a:rPr lang="en-US" sz="1400" b="1" dirty="0">
                <a:solidFill>
                  <a:srgbClr val="666666"/>
                </a:solidFill>
                <a:latin typeface="Consolas" pitchFamily="34" charset="0"/>
                <a:ea typeface="Consolas" pitchFamily="34" charset="-122"/>
                <a:cs typeface="Consolas" pitchFamily="34" charset="-120"/>
              </a:rPr>
              <a:t>322</a:t>
            </a:r>
            <a:endParaRPr lang="en-US" sz="1400" dirty="0"/>
          </a:p>
        </p:txBody>
      </p:sp>
      <p:sp>
        <p:nvSpPr>
          <p:cNvPr id="8" name="Text 6"/>
          <p:cNvSpPr/>
          <p:nvPr/>
        </p:nvSpPr>
        <p:spPr>
          <a:xfrm>
            <a:off x="1371600" y="3429000"/>
            <a:ext cx="1325880" cy="274320"/>
          </a:xfrm>
          <a:prstGeom prst="rect">
            <a:avLst/>
          </a:prstGeom>
          <a:noFill/>
          <a:ln/>
        </p:spPr>
        <p:txBody>
          <a:bodyPr wrap="square" lIns="0" tIns="0" rIns="0" bIns="0" rtlCol="0" anchor="t"/>
          <a:lstStyle/>
          <a:p>
            <a:pPr algn="ctr" indent="0" marL="0">
              <a:buNone/>
            </a:pPr>
            <a:r>
              <a:rPr lang="en-US" sz="1100" dirty="0">
                <a:solidFill>
                  <a:srgbClr val="666666"/>
                </a:solidFill>
                <a:latin typeface="Noto Sans KR" pitchFamily="34" charset="0"/>
                <a:ea typeface="Noto Sans KR" pitchFamily="34" charset="-122"/>
                <a:cs typeface="Noto Sans KR" pitchFamily="34" charset="-120"/>
              </a:rPr>
              <a:t>0 ~ 999</a:t>
            </a:r>
            <a:endParaRPr lang="en-US" sz="1100" dirty="0"/>
          </a:p>
        </p:txBody>
      </p:sp>
      <p:sp>
        <p:nvSpPr>
          <p:cNvPr id="9" name="Shape 7"/>
          <p:cNvSpPr/>
          <p:nvPr/>
        </p:nvSpPr>
        <p:spPr>
          <a:xfrm>
            <a:off x="3063240" y="3081528"/>
            <a:ext cx="1325880" cy="256032"/>
          </a:xfrm>
          <a:prstGeom prst="rect">
            <a:avLst/>
          </a:prstGeom>
          <a:solidFill>
            <a:srgbClr val="1E3A5F"/>
          </a:solidFill>
          <a:ln w="12700">
            <a:solidFill>
              <a:srgbClr val="1E3A5F"/>
            </a:solidFill>
            <a:prstDash val="solid"/>
          </a:ln>
        </p:spPr>
      </p:sp>
      <p:sp>
        <p:nvSpPr>
          <p:cNvPr id="10" name="Text 8"/>
          <p:cNvSpPr/>
          <p:nvPr/>
        </p:nvSpPr>
        <p:spPr>
          <a:xfrm>
            <a:off x="2971800" y="2752344"/>
            <a:ext cx="1508760" cy="274320"/>
          </a:xfrm>
          <a:prstGeom prst="rect">
            <a:avLst/>
          </a:prstGeom>
          <a:noFill/>
          <a:ln/>
        </p:spPr>
        <p:txBody>
          <a:bodyPr wrap="square" lIns="0" tIns="0" rIns="0" bIns="0" rtlCol="0" anchor="b"/>
          <a:lstStyle/>
          <a:p>
            <a:pPr algn="ctr" indent="0" marL="0">
              <a:buNone/>
            </a:pPr>
            <a:r>
              <a:rPr lang="en-US" sz="1400" b="1" dirty="0">
                <a:solidFill>
                  <a:srgbClr val="333333"/>
                </a:solidFill>
                <a:latin typeface="Consolas" pitchFamily="34" charset="0"/>
                <a:ea typeface="Consolas" pitchFamily="34" charset="-122"/>
                <a:cs typeface="Consolas" pitchFamily="34" charset="-120"/>
              </a:rPr>
              <a:t>1,006</a:t>
            </a:r>
            <a:endParaRPr lang="en-US" sz="1400" dirty="0"/>
          </a:p>
        </p:txBody>
      </p:sp>
      <p:sp>
        <p:nvSpPr>
          <p:cNvPr id="11" name="Text 9"/>
          <p:cNvSpPr/>
          <p:nvPr/>
        </p:nvSpPr>
        <p:spPr>
          <a:xfrm>
            <a:off x="3063240" y="3429000"/>
            <a:ext cx="1325880" cy="274320"/>
          </a:xfrm>
          <a:prstGeom prst="rect">
            <a:avLst/>
          </a:prstGeom>
          <a:noFill/>
          <a:ln/>
        </p:spPr>
        <p:txBody>
          <a:bodyPr wrap="square" lIns="0" tIns="0" rIns="0" bIns="0" rtlCol="0" anchor="t"/>
          <a:lstStyle/>
          <a:p>
            <a:pPr algn="ctr" indent="0" marL="0">
              <a:buNone/>
            </a:pPr>
            <a:r>
              <a:rPr lang="en-US" sz="1100" dirty="0">
                <a:solidFill>
                  <a:srgbClr val="666666"/>
                </a:solidFill>
                <a:latin typeface="Noto Sans KR" pitchFamily="34" charset="0"/>
                <a:ea typeface="Noto Sans KR" pitchFamily="34" charset="-122"/>
                <a:cs typeface="Noto Sans KR" pitchFamily="34" charset="-120"/>
              </a:rPr>
              <a:t>1k ~ 9.9k</a:t>
            </a:r>
            <a:endParaRPr lang="en-US" sz="1100" dirty="0"/>
          </a:p>
        </p:txBody>
      </p:sp>
      <p:sp>
        <p:nvSpPr>
          <p:cNvPr id="12" name="Shape 10"/>
          <p:cNvSpPr/>
          <p:nvPr/>
        </p:nvSpPr>
        <p:spPr>
          <a:xfrm>
            <a:off x="4754880" y="2708262"/>
            <a:ext cx="1325880" cy="629298"/>
          </a:xfrm>
          <a:prstGeom prst="rect">
            <a:avLst/>
          </a:prstGeom>
          <a:solidFill>
            <a:srgbClr val="1E3A5F"/>
          </a:solidFill>
          <a:ln w="12700">
            <a:solidFill>
              <a:srgbClr val="1E3A5F"/>
            </a:solidFill>
            <a:prstDash val="solid"/>
          </a:ln>
        </p:spPr>
      </p:sp>
      <p:sp>
        <p:nvSpPr>
          <p:cNvPr id="13" name="Text 11"/>
          <p:cNvSpPr/>
          <p:nvPr/>
        </p:nvSpPr>
        <p:spPr>
          <a:xfrm>
            <a:off x="4663440" y="2379078"/>
            <a:ext cx="1508760" cy="274320"/>
          </a:xfrm>
          <a:prstGeom prst="rect">
            <a:avLst/>
          </a:prstGeom>
          <a:noFill/>
          <a:ln/>
        </p:spPr>
        <p:txBody>
          <a:bodyPr wrap="square" lIns="0" tIns="0" rIns="0" bIns="0" rtlCol="0" anchor="b"/>
          <a:lstStyle/>
          <a:p>
            <a:pPr algn="ctr" indent="0" marL="0">
              <a:buNone/>
            </a:pPr>
            <a:r>
              <a:rPr lang="en-US" sz="1400" b="1" dirty="0">
                <a:solidFill>
                  <a:srgbClr val="333333"/>
                </a:solidFill>
                <a:latin typeface="Consolas" pitchFamily="34" charset="0"/>
                <a:ea typeface="Consolas" pitchFamily="34" charset="-122"/>
                <a:cs typeface="Consolas" pitchFamily="34" charset="-120"/>
              </a:rPr>
              <a:t>5,215</a:t>
            </a:r>
            <a:endParaRPr lang="en-US" sz="1400" dirty="0"/>
          </a:p>
        </p:txBody>
      </p:sp>
      <p:sp>
        <p:nvSpPr>
          <p:cNvPr id="14" name="Text 12"/>
          <p:cNvSpPr/>
          <p:nvPr/>
        </p:nvSpPr>
        <p:spPr>
          <a:xfrm>
            <a:off x="4754880" y="3429000"/>
            <a:ext cx="1325880" cy="274320"/>
          </a:xfrm>
          <a:prstGeom prst="rect">
            <a:avLst/>
          </a:prstGeom>
          <a:noFill/>
          <a:ln/>
        </p:spPr>
        <p:txBody>
          <a:bodyPr wrap="square" lIns="0" tIns="0" rIns="0" bIns="0" rtlCol="0" anchor="t"/>
          <a:lstStyle/>
          <a:p>
            <a:pPr algn="ctr" indent="0" marL="0">
              <a:buNone/>
            </a:pPr>
            <a:r>
              <a:rPr lang="en-US" sz="1100" dirty="0">
                <a:solidFill>
                  <a:srgbClr val="666666"/>
                </a:solidFill>
                <a:latin typeface="Noto Sans KR" pitchFamily="34" charset="0"/>
                <a:ea typeface="Noto Sans KR" pitchFamily="34" charset="-122"/>
                <a:cs typeface="Noto Sans KR" pitchFamily="34" charset="-120"/>
              </a:rPr>
              <a:t>10k ~ 99k</a:t>
            </a:r>
            <a:endParaRPr lang="en-US" sz="1100" dirty="0"/>
          </a:p>
        </p:txBody>
      </p:sp>
      <p:sp>
        <p:nvSpPr>
          <p:cNvPr id="15" name="Shape 13"/>
          <p:cNvSpPr/>
          <p:nvPr/>
        </p:nvSpPr>
        <p:spPr>
          <a:xfrm>
            <a:off x="6446520" y="1783080"/>
            <a:ext cx="1325880" cy="1554480"/>
          </a:xfrm>
          <a:prstGeom prst="rect">
            <a:avLst/>
          </a:prstGeom>
          <a:solidFill>
            <a:srgbClr val="C8A45C"/>
          </a:solidFill>
          <a:ln w="12700">
            <a:solidFill>
              <a:srgbClr val="C8A45C"/>
            </a:solidFill>
            <a:prstDash val="solid"/>
          </a:ln>
        </p:spPr>
      </p:sp>
      <p:sp>
        <p:nvSpPr>
          <p:cNvPr id="16" name="Text 14"/>
          <p:cNvSpPr/>
          <p:nvPr/>
        </p:nvSpPr>
        <p:spPr>
          <a:xfrm>
            <a:off x="6355080" y="1453896"/>
            <a:ext cx="1508760" cy="274320"/>
          </a:xfrm>
          <a:prstGeom prst="rect">
            <a:avLst/>
          </a:prstGeom>
          <a:noFill/>
          <a:ln/>
        </p:spPr>
        <p:txBody>
          <a:bodyPr wrap="square" lIns="0" tIns="0" rIns="0" bIns="0" rtlCol="0" anchor="b"/>
          <a:lstStyle/>
          <a:p>
            <a:pPr algn="ctr" indent="0" marL="0">
              <a:buNone/>
            </a:pPr>
            <a:r>
              <a:rPr lang="en-US" sz="1400" b="1" dirty="0">
                <a:solidFill>
                  <a:srgbClr val="333333"/>
                </a:solidFill>
                <a:latin typeface="Consolas" pitchFamily="34" charset="0"/>
                <a:ea typeface="Consolas" pitchFamily="34" charset="-122"/>
                <a:cs typeface="Consolas" pitchFamily="34" charset="-120"/>
              </a:rPr>
              <a:t>12,882</a:t>
            </a:r>
            <a:endParaRPr lang="en-US" sz="1400" dirty="0"/>
          </a:p>
        </p:txBody>
      </p:sp>
      <p:sp>
        <p:nvSpPr>
          <p:cNvPr id="17" name="Text 15"/>
          <p:cNvSpPr/>
          <p:nvPr/>
        </p:nvSpPr>
        <p:spPr>
          <a:xfrm>
            <a:off x="6446520" y="3429000"/>
            <a:ext cx="1325880" cy="274320"/>
          </a:xfrm>
          <a:prstGeom prst="rect">
            <a:avLst/>
          </a:prstGeom>
          <a:noFill/>
          <a:ln/>
        </p:spPr>
        <p:txBody>
          <a:bodyPr wrap="square" lIns="0" tIns="0" rIns="0" bIns="0" rtlCol="0" anchor="t"/>
          <a:lstStyle/>
          <a:p>
            <a:pPr algn="ctr" indent="0" marL="0">
              <a:buNone/>
            </a:pPr>
            <a:r>
              <a:rPr lang="en-US" sz="1100" dirty="0">
                <a:solidFill>
                  <a:srgbClr val="666666"/>
                </a:solidFill>
                <a:latin typeface="Noto Sans KR" pitchFamily="34" charset="0"/>
                <a:ea typeface="Noto Sans KR" pitchFamily="34" charset="-122"/>
                <a:cs typeface="Noto Sans KR" pitchFamily="34" charset="-120"/>
              </a:rPr>
              <a:t>100k +</a:t>
            </a:r>
            <a:endParaRPr lang="en-US" sz="1100" dirty="0"/>
          </a:p>
        </p:txBody>
      </p:sp>
      <p:sp>
        <p:nvSpPr>
          <p:cNvPr id="18" name="Text 16"/>
          <p:cNvSpPr/>
          <p:nvPr/>
        </p:nvSpPr>
        <p:spPr>
          <a:xfrm>
            <a:off x="731520" y="3840480"/>
            <a:ext cx="7680960" cy="868680"/>
          </a:xfrm>
          <a:prstGeom prst="rect">
            <a:avLst/>
          </a:prstGeom>
          <a:noFill/>
          <a:ln/>
        </p:spPr>
        <p:txBody>
          <a:bodyPr wrap="square" lIns="0" tIns="0" rIns="0" bIns="0" rtlCol="0" anchor="t"/>
          <a:lstStyle/>
          <a:p>
            <a:pPr algn="ctr" indent="0" marL="0">
              <a:lnSpc>
                <a:spcPct val="125000"/>
              </a:lnSpc>
              <a:spcAft>
                <a:spcPts val="200"/>
              </a:spcAft>
              <a:buNone/>
            </a:pPr>
            <a:r>
              <a:rPr lang="en-US" sz="1100" dirty="0">
                <a:solidFill>
                  <a:srgbClr val="666666"/>
                </a:solidFill>
                <a:latin typeface="Noto Sans KR" pitchFamily="34" charset="0"/>
                <a:ea typeface="Noto Sans KR" pitchFamily="34" charset="-122"/>
                <a:cs typeface="Noto Sans KR" pitchFamily="34" charset="-120"/>
              </a:rPr>
              <a:t>사전 위시리스트가 행사 결과를 좌우한다. 1,000개 미만으로 입장하면 행사 중 322개에 그치지만, 100,000개 이상이면 12,882개를 추가로 얻는다. 행사장에 도착하기 전에 이미 절반 이상이 결정된다. 사전 누적이 부족하다면 입장을 미루고 데모로 위시리스트부터 모으는 게 합리적이다.</a:t>
            </a:r>
            <a:endParaRPr lang="en-US" sz="1100" dirty="0"/>
          </a:p>
        </p:txBody>
      </p:sp>
      <p:sp>
        <p:nvSpPr>
          <p:cNvPr id="19" name="Text 17"/>
          <p:cNvSpPr/>
          <p:nvPr/>
        </p:nvSpPr>
        <p:spPr>
          <a:xfrm>
            <a:off x="640080" y="4823460"/>
            <a:ext cx="7863840" cy="228600"/>
          </a:xfrm>
          <a:prstGeom prst="rect">
            <a:avLst/>
          </a:prstGeom>
          <a:noFill/>
          <a:ln/>
        </p:spPr>
        <p:txBody>
          <a:bodyPr wrap="square" lIns="0" tIns="0" rIns="0" bIns="0" rtlCol="0" anchor="ctr"/>
          <a:lstStyle/>
          <a:p>
            <a:pPr algn="ctr" indent="0" marL="0">
              <a:buNone/>
            </a:pPr>
            <a:r>
              <a:rPr lang="en-US" sz="900" dirty="0">
                <a:solidFill>
                  <a:srgbClr val="999999"/>
                </a:solidFill>
                <a:latin typeface="Noto Sans KR" pitchFamily="34" charset="0"/>
                <a:ea typeface="Noto Sans KR" pitchFamily="34" charset="-122"/>
                <a:cs typeface="Noto Sans KR" pitchFamily="34" charset="-120"/>
              </a:rPr>
              <a:t>상관계수 r = 0.825 (가장 강력한 예측 변수) · 진입 임계점 ≈ 사전 위시리스트 2,000개</a:t>
            </a:r>
            <a:endParaRPr lang="en-US" sz="900" dirty="0"/>
          </a:p>
        </p:txBody>
      </p:sp>
      <p:sp>
        <p:nvSpPr>
          <p:cNvPr id="21" name="Text 18"/>
          <p:cNvSpPr/>
          <p:nvPr/>
        </p:nvSpPr>
        <p:spPr>
          <a:xfrm>
            <a:off x="8046720" y="4777740"/>
            <a:ext cx="822960" cy="228600"/>
          </a:xfrm>
          <a:prstGeom prst="rect">
            <a:avLst/>
          </a:prstGeom>
          <a:noFill/>
          <a:ln/>
        </p:spPr>
        <p:txBody>
          <a:bodyPr wrap="square" lIns="0" tIns="0" rIns="0" bIns="0" rtlCol="0" anchor="ctr"/>
          <a:lstStyle/>
          <a:p>
            <a:pPr algn="r" indent="0" marL="0">
              <a:buNone/>
            </a:pPr>
            <a:r>
              <a:rPr lang="en-US" sz="900" dirty="0">
                <a:solidFill>
                  <a:srgbClr val="999999"/>
                </a:solidFill>
                <a:latin typeface="Consolas" pitchFamily="34" charset="0"/>
                <a:ea typeface="Consolas" pitchFamily="34" charset="-122"/>
                <a:cs typeface="Consolas" pitchFamily="34" charset="-120"/>
              </a:rPr>
              <a:t>8 / 15</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7863840" cy="457200"/>
          </a:xfrm>
          <a:prstGeom prst="rect">
            <a:avLst/>
          </a:prstGeom>
          <a:noFill/>
          <a:ln/>
        </p:spPr>
        <p:txBody>
          <a:bodyPr wrap="square" lIns="0" tIns="0" rIns="0" bIns="0" rtlCol="0" anchor="t"/>
          <a:lstStyle/>
          <a:p>
            <a:pPr algn="l" indent="0" marL="0">
              <a:buNone/>
            </a:pPr>
            <a:r>
              <a:rPr lang="en-US" sz="2600" b="1" dirty="0">
                <a:solidFill>
                  <a:srgbClr val="1E3A5F"/>
                </a:solidFill>
                <a:latin typeface="Noto Sans KR" pitchFamily="34" charset="0"/>
                <a:ea typeface="Noto Sans KR" pitchFamily="34" charset="-122"/>
                <a:cs typeface="Noto Sans KR" pitchFamily="34" charset="-120"/>
              </a:rPr>
              <a:t>스토어 페이지 최적화</a:t>
            </a:r>
            <a:endParaRPr lang="en-US" sz="2600" dirty="0"/>
          </a:p>
        </p:txBody>
      </p:sp>
      <p:sp>
        <p:nvSpPr>
          <p:cNvPr id="3" name="Shape 1"/>
          <p:cNvSpPr/>
          <p:nvPr/>
        </p:nvSpPr>
        <p:spPr>
          <a:xfrm>
            <a:off x="640080" y="886968"/>
            <a:ext cx="658368" cy="22860"/>
          </a:xfrm>
          <a:prstGeom prst="rect">
            <a:avLst/>
          </a:prstGeom>
          <a:solidFill>
            <a:srgbClr val="C8A45C"/>
          </a:solidFill>
          <a:ln w="12700">
            <a:solidFill>
              <a:srgbClr val="C8A45C"/>
            </a:solidFill>
            <a:prstDash val="solid"/>
          </a:ln>
        </p:spPr>
      </p:sp>
      <p:sp>
        <p:nvSpPr>
          <p:cNvPr id="4" name="Text 2"/>
          <p:cNvSpPr/>
          <p:nvPr/>
        </p:nvSpPr>
        <p:spPr>
          <a:xfrm>
            <a:off x="914400" y="1325880"/>
            <a:ext cx="7315200" cy="777240"/>
          </a:xfrm>
          <a:prstGeom prst="rect">
            <a:avLst/>
          </a:prstGeom>
          <a:noFill/>
          <a:ln/>
        </p:spPr>
        <p:txBody>
          <a:bodyPr wrap="square" lIns="0" tIns="0" rIns="0" bIns="0" rtlCol="0" anchor="t"/>
          <a:lstStyle/>
          <a:p>
            <a:pPr algn="ctr" indent="0" marL="0">
              <a:spcAft>
                <a:spcPts val="400"/>
              </a:spcAft>
              <a:buNone/>
            </a:pPr>
            <a:r>
              <a:rPr lang="en-US" sz="1300" dirty="0">
                <a:solidFill>
                  <a:srgbClr val="666666"/>
                </a:solidFill>
                <a:latin typeface="Noto Sans KR" pitchFamily="34" charset="0"/>
                <a:ea typeface="Noto Sans KR" pitchFamily="34" charset="-122"/>
                <a:cs typeface="Noto Sans KR" pitchFamily="34" charset="-120"/>
              </a:rPr>
              <a:t>스토어 페이지는 출시 후 꾸미는 전시 공간이 아니라, 개발과 동시에 설계해야 할 첫 마케팅 무대다. 알고리즘과 사람 모두에게 동시에 답해야 한다.</a:t>
            </a:r>
            <a:endParaRPr lang="en-US" sz="1300" dirty="0"/>
          </a:p>
        </p:txBody>
      </p:sp>
      <p:sp>
        <p:nvSpPr>
          <p:cNvPr id="5" name="Shape 3"/>
          <p:cNvSpPr/>
          <p:nvPr/>
        </p:nvSpPr>
        <p:spPr>
          <a:xfrm>
            <a:off x="640080" y="2194560"/>
            <a:ext cx="2487168" cy="2446020"/>
          </a:xfrm>
          <a:prstGeom prst="rect">
            <a:avLst/>
          </a:prstGeom>
          <a:solidFill>
            <a:srgbClr val="F4F5F7"/>
          </a:solidFill>
          <a:ln w="9525">
            <a:solidFill>
              <a:srgbClr val="E0E3E8"/>
            </a:solidFill>
            <a:prstDash val="solid"/>
          </a:ln>
        </p:spPr>
      </p:sp>
      <p:sp>
        <p:nvSpPr>
          <p:cNvPr id="6" name="Shape 4"/>
          <p:cNvSpPr/>
          <p:nvPr/>
        </p:nvSpPr>
        <p:spPr>
          <a:xfrm>
            <a:off x="640080" y="2194560"/>
            <a:ext cx="2487168" cy="54864"/>
          </a:xfrm>
          <a:prstGeom prst="rect">
            <a:avLst/>
          </a:prstGeom>
          <a:solidFill>
            <a:srgbClr val="1E3A5F"/>
          </a:solidFill>
          <a:ln w="12700">
            <a:solidFill>
              <a:srgbClr val="1E3A5F"/>
            </a:solidFill>
            <a:prstDash val="solid"/>
          </a:ln>
        </p:spPr>
      </p:sp>
      <p:sp>
        <p:nvSpPr>
          <p:cNvPr id="7" name="Text 5"/>
          <p:cNvSpPr/>
          <p:nvPr/>
        </p:nvSpPr>
        <p:spPr>
          <a:xfrm>
            <a:off x="868680" y="2377440"/>
            <a:ext cx="2029968" cy="365760"/>
          </a:xfrm>
          <a:prstGeom prst="rect">
            <a:avLst/>
          </a:prstGeom>
          <a:noFill/>
          <a:ln/>
        </p:spPr>
        <p:txBody>
          <a:bodyPr wrap="square" lIns="0" tIns="0" rIns="0" bIns="0" rtlCol="0" anchor="t"/>
          <a:lstStyle/>
          <a:p>
            <a:pPr indent="0" marL="0">
              <a:buNone/>
            </a:pPr>
            <a:r>
              <a:rPr lang="en-US" sz="1600" b="1" dirty="0">
                <a:solidFill>
                  <a:srgbClr val="1E3A5F"/>
                </a:solidFill>
                <a:latin typeface="Noto Sans KR" pitchFamily="34" charset="0"/>
                <a:ea typeface="Noto Sans KR" pitchFamily="34" charset="-122"/>
                <a:cs typeface="Noto Sans KR" pitchFamily="34" charset="-120"/>
              </a:rPr>
              <a:t>트레일러 첫 5초</a:t>
            </a:r>
            <a:endParaRPr lang="en-US" sz="1600" dirty="0"/>
          </a:p>
        </p:txBody>
      </p:sp>
      <p:sp>
        <p:nvSpPr>
          <p:cNvPr id="8" name="Text 6"/>
          <p:cNvSpPr/>
          <p:nvPr/>
        </p:nvSpPr>
        <p:spPr>
          <a:xfrm>
            <a:off x="868680" y="2834640"/>
            <a:ext cx="2029968" cy="1165860"/>
          </a:xfrm>
          <a:prstGeom prst="rect">
            <a:avLst/>
          </a:prstGeom>
          <a:noFill/>
          <a:ln/>
        </p:spPr>
        <p:txBody>
          <a:bodyPr wrap="square" lIns="0" tIns="0" rIns="0" bIns="0" rtlCol="0" anchor="t"/>
          <a:lstStyle/>
          <a:p>
            <a:pPr algn="just" indent="0" marL="0">
              <a:lnSpc>
                <a:spcPct val="115000"/>
              </a:lnSpc>
              <a:spcAft>
                <a:spcPts val="200"/>
              </a:spcAft>
              <a:buNone/>
            </a:pPr>
            <a:r>
              <a:rPr lang="en-US" sz="1100" dirty="0">
                <a:solidFill>
                  <a:srgbClr val="666666"/>
                </a:solidFill>
                <a:latin typeface="Noto Sans KR" pitchFamily="34" charset="0"/>
                <a:ea typeface="Noto Sans KR" pitchFamily="34" charset="-122"/>
                <a:cs typeface="Noto Sans KR" pitchFamily="34" charset="-120"/>
              </a:rPr>
              <a:t>인트로는 짧게, 게임플레이는 빠르게. 한 사례에서 게임플레이 시작 시점을 18초→1초로 옮기자 전환율이 +31% 상승했다. 첫 5초 안에 "어떤 게임인지"를 시각적으로 답해야 한다.</a:t>
            </a:r>
            <a:endParaRPr lang="en-US" sz="1100" dirty="0"/>
          </a:p>
        </p:txBody>
      </p:sp>
      <p:sp>
        <p:nvSpPr>
          <p:cNvPr id="9" name="Text 7"/>
          <p:cNvSpPr/>
          <p:nvPr/>
        </p:nvSpPr>
        <p:spPr>
          <a:xfrm>
            <a:off x="868680" y="4137660"/>
            <a:ext cx="2029968" cy="292608"/>
          </a:xfrm>
          <a:prstGeom prst="rect">
            <a:avLst/>
          </a:prstGeom>
          <a:noFill/>
          <a:ln/>
        </p:spPr>
        <p:txBody>
          <a:bodyPr wrap="square" lIns="0" tIns="0" rIns="0" bIns="0" rtlCol="0" anchor="ctr"/>
          <a:lstStyle/>
          <a:p>
            <a:pPr indent="0" marL="0">
              <a:buNone/>
            </a:pPr>
            <a:r>
              <a:rPr lang="en-US" sz="1000" b="1" dirty="0">
                <a:solidFill>
                  <a:srgbClr val="C8A45C"/>
                </a:solidFill>
                <a:latin typeface="Consolas" pitchFamily="34" charset="0"/>
                <a:ea typeface="Consolas" pitchFamily="34" charset="-122"/>
                <a:cs typeface="Consolas" pitchFamily="34" charset="-120"/>
              </a:rPr>
              <a:t>전환율 +31% 사례</a:t>
            </a:r>
            <a:endParaRPr lang="en-US" sz="1000" dirty="0"/>
          </a:p>
        </p:txBody>
      </p:sp>
      <p:sp>
        <p:nvSpPr>
          <p:cNvPr id="10" name="Shape 8"/>
          <p:cNvSpPr/>
          <p:nvPr/>
        </p:nvSpPr>
        <p:spPr>
          <a:xfrm>
            <a:off x="3328416" y="2194560"/>
            <a:ext cx="2487168" cy="2446020"/>
          </a:xfrm>
          <a:prstGeom prst="rect">
            <a:avLst/>
          </a:prstGeom>
          <a:solidFill>
            <a:srgbClr val="F4F5F7"/>
          </a:solidFill>
          <a:ln w="9525">
            <a:solidFill>
              <a:srgbClr val="E0E3E8"/>
            </a:solidFill>
            <a:prstDash val="solid"/>
          </a:ln>
        </p:spPr>
      </p:sp>
      <p:sp>
        <p:nvSpPr>
          <p:cNvPr id="11" name="Shape 9"/>
          <p:cNvSpPr/>
          <p:nvPr/>
        </p:nvSpPr>
        <p:spPr>
          <a:xfrm>
            <a:off x="3328416" y="2194560"/>
            <a:ext cx="2487168" cy="54864"/>
          </a:xfrm>
          <a:prstGeom prst="rect">
            <a:avLst/>
          </a:prstGeom>
          <a:solidFill>
            <a:srgbClr val="1E3A5F"/>
          </a:solidFill>
          <a:ln w="12700">
            <a:solidFill>
              <a:srgbClr val="1E3A5F"/>
            </a:solidFill>
            <a:prstDash val="solid"/>
          </a:ln>
        </p:spPr>
      </p:sp>
      <p:sp>
        <p:nvSpPr>
          <p:cNvPr id="12" name="Text 10"/>
          <p:cNvSpPr/>
          <p:nvPr/>
        </p:nvSpPr>
        <p:spPr>
          <a:xfrm>
            <a:off x="3557016" y="2377440"/>
            <a:ext cx="2029968" cy="365760"/>
          </a:xfrm>
          <a:prstGeom prst="rect">
            <a:avLst/>
          </a:prstGeom>
          <a:noFill/>
          <a:ln/>
        </p:spPr>
        <p:txBody>
          <a:bodyPr wrap="square" lIns="0" tIns="0" rIns="0" bIns="0" rtlCol="0" anchor="t"/>
          <a:lstStyle/>
          <a:p>
            <a:pPr indent="0" marL="0">
              <a:buNone/>
            </a:pPr>
            <a:r>
              <a:rPr lang="en-US" sz="1600" b="1" dirty="0">
                <a:solidFill>
                  <a:srgbClr val="1E3A5F"/>
                </a:solidFill>
                <a:latin typeface="Noto Sans KR" pitchFamily="34" charset="0"/>
                <a:ea typeface="Noto Sans KR" pitchFamily="34" charset="-122"/>
                <a:cs typeface="Noto Sans KR" pitchFamily="34" charset="-120"/>
              </a:rPr>
              <a:t>태그 20개 + 상위 5개</a:t>
            </a:r>
            <a:endParaRPr lang="en-US" sz="1600" dirty="0"/>
          </a:p>
        </p:txBody>
      </p:sp>
      <p:sp>
        <p:nvSpPr>
          <p:cNvPr id="13" name="Text 11"/>
          <p:cNvSpPr/>
          <p:nvPr/>
        </p:nvSpPr>
        <p:spPr>
          <a:xfrm>
            <a:off x="3557016" y="2834640"/>
            <a:ext cx="2029968" cy="1165860"/>
          </a:xfrm>
          <a:prstGeom prst="rect">
            <a:avLst/>
          </a:prstGeom>
          <a:noFill/>
          <a:ln/>
        </p:spPr>
        <p:txBody>
          <a:bodyPr wrap="square" lIns="0" tIns="0" rIns="0" bIns="0" rtlCol="0" anchor="t"/>
          <a:lstStyle/>
          <a:p>
            <a:pPr algn="just" indent="0" marL="0">
              <a:lnSpc>
                <a:spcPct val="115000"/>
              </a:lnSpc>
              <a:spcAft>
                <a:spcPts val="200"/>
              </a:spcAft>
              <a:buNone/>
            </a:pPr>
            <a:r>
              <a:rPr lang="en-US" sz="1100" dirty="0">
                <a:solidFill>
                  <a:srgbClr val="666666"/>
                </a:solidFill>
                <a:latin typeface="Noto Sans KR" pitchFamily="34" charset="0"/>
                <a:ea typeface="Noto Sans KR" pitchFamily="34" charset="-122"/>
                <a:cs typeface="Noto Sans KR" pitchFamily="34" charset="-120"/>
              </a:rPr>
              <a:t>태그 슬롯 20개를 모두 사용하고, 상위 5개에 가장 정확한 태그를 배치한다. 알고리즘 가중치가 상위 5개에 집중되기 때문. 범용 태그를 상위에 두는 건 거대 장르에 묻혀 사라지는 길.</a:t>
            </a:r>
            <a:endParaRPr lang="en-US" sz="1100" dirty="0"/>
          </a:p>
        </p:txBody>
      </p:sp>
      <p:sp>
        <p:nvSpPr>
          <p:cNvPr id="14" name="Text 12"/>
          <p:cNvSpPr/>
          <p:nvPr/>
        </p:nvSpPr>
        <p:spPr>
          <a:xfrm>
            <a:off x="3557016" y="4137660"/>
            <a:ext cx="2029968" cy="292608"/>
          </a:xfrm>
          <a:prstGeom prst="rect">
            <a:avLst/>
          </a:prstGeom>
          <a:noFill/>
          <a:ln/>
        </p:spPr>
        <p:txBody>
          <a:bodyPr wrap="square" lIns="0" tIns="0" rIns="0" bIns="0" rtlCol="0" anchor="ctr"/>
          <a:lstStyle/>
          <a:p>
            <a:pPr indent="0" marL="0">
              <a:buNone/>
            </a:pPr>
            <a:r>
              <a:rPr lang="en-US" sz="1000" b="1" dirty="0">
                <a:solidFill>
                  <a:srgbClr val="C8A45C"/>
                </a:solidFill>
                <a:latin typeface="Consolas" pitchFamily="34" charset="0"/>
                <a:ea typeface="Consolas" pitchFamily="34" charset="-122"/>
                <a:cs typeface="Consolas" pitchFamily="34" charset="-120"/>
              </a:rPr>
              <a:t>유저 언어로 · 성공작 벤치마크</a:t>
            </a:r>
            <a:endParaRPr lang="en-US" sz="1000" dirty="0"/>
          </a:p>
        </p:txBody>
      </p:sp>
      <p:sp>
        <p:nvSpPr>
          <p:cNvPr id="15" name="Shape 13"/>
          <p:cNvSpPr/>
          <p:nvPr/>
        </p:nvSpPr>
        <p:spPr>
          <a:xfrm>
            <a:off x="6016752" y="2194560"/>
            <a:ext cx="2487168" cy="2446020"/>
          </a:xfrm>
          <a:prstGeom prst="rect">
            <a:avLst/>
          </a:prstGeom>
          <a:solidFill>
            <a:srgbClr val="F4F5F7"/>
          </a:solidFill>
          <a:ln w="9525">
            <a:solidFill>
              <a:srgbClr val="E0E3E8"/>
            </a:solidFill>
            <a:prstDash val="solid"/>
          </a:ln>
        </p:spPr>
      </p:sp>
      <p:sp>
        <p:nvSpPr>
          <p:cNvPr id="16" name="Shape 14"/>
          <p:cNvSpPr/>
          <p:nvPr/>
        </p:nvSpPr>
        <p:spPr>
          <a:xfrm>
            <a:off x="6016752" y="2194560"/>
            <a:ext cx="2487168" cy="54864"/>
          </a:xfrm>
          <a:prstGeom prst="rect">
            <a:avLst/>
          </a:prstGeom>
          <a:solidFill>
            <a:srgbClr val="1E3A5F"/>
          </a:solidFill>
          <a:ln w="12700">
            <a:solidFill>
              <a:srgbClr val="1E3A5F"/>
            </a:solidFill>
            <a:prstDash val="solid"/>
          </a:ln>
        </p:spPr>
      </p:sp>
      <p:sp>
        <p:nvSpPr>
          <p:cNvPr id="17" name="Text 15"/>
          <p:cNvSpPr/>
          <p:nvPr/>
        </p:nvSpPr>
        <p:spPr>
          <a:xfrm>
            <a:off x="6245352" y="2377440"/>
            <a:ext cx="2029968" cy="365760"/>
          </a:xfrm>
          <a:prstGeom prst="rect">
            <a:avLst/>
          </a:prstGeom>
          <a:noFill/>
          <a:ln/>
        </p:spPr>
        <p:txBody>
          <a:bodyPr wrap="square" lIns="0" tIns="0" rIns="0" bIns="0" rtlCol="0" anchor="t"/>
          <a:lstStyle/>
          <a:p>
            <a:pPr indent="0" marL="0">
              <a:buNone/>
            </a:pPr>
            <a:r>
              <a:rPr lang="en-US" sz="1600" b="1" dirty="0">
                <a:solidFill>
                  <a:srgbClr val="1E3A5F"/>
                </a:solidFill>
                <a:latin typeface="Noto Sans KR" pitchFamily="34" charset="0"/>
                <a:ea typeface="Noto Sans KR" pitchFamily="34" charset="-122"/>
                <a:cs typeface="Noto Sans KR" pitchFamily="34" charset="-120"/>
              </a:rPr>
              <a:t>캡슐 아트 가독성</a:t>
            </a:r>
            <a:endParaRPr lang="en-US" sz="1600" dirty="0"/>
          </a:p>
        </p:txBody>
      </p:sp>
      <p:sp>
        <p:nvSpPr>
          <p:cNvPr id="18" name="Text 16"/>
          <p:cNvSpPr/>
          <p:nvPr/>
        </p:nvSpPr>
        <p:spPr>
          <a:xfrm>
            <a:off x="6245352" y="2834640"/>
            <a:ext cx="2029968" cy="1165860"/>
          </a:xfrm>
          <a:prstGeom prst="rect">
            <a:avLst/>
          </a:prstGeom>
          <a:noFill/>
          <a:ln/>
        </p:spPr>
        <p:txBody>
          <a:bodyPr wrap="square" lIns="0" tIns="0" rIns="0" bIns="0" rtlCol="0" anchor="t"/>
          <a:lstStyle/>
          <a:p>
            <a:pPr algn="just" indent="0" marL="0">
              <a:lnSpc>
                <a:spcPct val="115000"/>
              </a:lnSpc>
              <a:spcAft>
                <a:spcPts val="200"/>
              </a:spcAft>
              <a:buNone/>
            </a:pPr>
            <a:r>
              <a:rPr lang="en-US" sz="1100" dirty="0">
                <a:solidFill>
                  <a:srgbClr val="666666"/>
                </a:solidFill>
                <a:latin typeface="Noto Sans KR" pitchFamily="34" charset="0"/>
                <a:ea typeface="Noto Sans KR" pitchFamily="34" charset="-122"/>
                <a:cs typeface="Noto Sans KR" pitchFamily="34" charset="-120"/>
              </a:rPr>
              <a:t>검색 결과 썸네일은 120×45px까지 축소된다. 그 크기에서 로고가 보이지 않으면 게임은 검색 결과에서 사라진다. 디테일이 아닌 실루엣과 컬러로 차별화해야 한다.</a:t>
            </a:r>
            <a:endParaRPr lang="en-US" sz="1100" dirty="0"/>
          </a:p>
        </p:txBody>
      </p:sp>
      <p:sp>
        <p:nvSpPr>
          <p:cNvPr id="19" name="Text 17"/>
          <p:cNvSpPr/>
          <p:nvPr/>
        </p:nvSpPr>
        <p:spPr>
          <a:xfrm>
            <a:off x="6245352" y="4137660"/>
            <a:ext cx="2029968" cy="292608"/>
          </a:xfrm>
          <a:prstGeom prst="rect">
            <a:avLst/>
          </a:prstGeom>
          <a:noFill/>
          <a:ln/>
        </p:spPr>
        <p:txBody>
          <a:bodyPr wrap="square" lIns="0" tIns="0" rIns="0" bIns="0" rtlCol="0" anchor="ctr"/>
          <a:lstStyle/>
          <a:p>
            <a:pPr indent="0" marL="0">
              <a:buNone/>
            </a:pPr>
            <a:r>
              <a:rPr lang="en-US" sz="1000" b="1" dirty="0">
                <a:solidFill>
                  <a:srgbClr val="C8A45C"/>
                </a:solidFill>
                <a:latin typeface="Consolas" pitchFamily="34" charset="0"/>
                <a:ea typeface="Consolas" pitchFamily="34" charset="-122"/>
                <a:cs typeface="Consolas" pitchFamily="34" charset="-120"/>
              </a:rPr>
              <a:t>스크린샷 8~12장 권장</a:t>
            </a:r>
            <a:endParaRPr lang="en-US" sz="1000" dirty="0"/>
          </a:p>
        </p:txBody>
      </p:sp>
      <p:sp>
        <p:nvSpPr>
          <p:cNvPr id="21" name="Text 18"/>
          <p:cNvSpPr/>
          <p:nvPr/>
        </p:nvSpPr>
        <p:spPr>
          <a:xfrm>
            <a:off x="8046720" y="4777740"/>
            <a:ext cx="822960" cy="228600"/>
          </a:xfrm>
          <a:prstGeom prst="rect">
            <a:avLst/>
          </a:prstGeom>
          <a:noFill/>
          <a:ln/>
        </p:spPr>
        <p:txBody>
          <a:bodyPr wrap="square" lIns="0" tIns="0" rIns="0" bIns="0" rtlCol="0" anchor="ctr"/>
          <a:lstStyle/>
          <a:p>
            <a:pPr algn="r" indent="0" marL="0">
              <a:buNone/>
            </a:pPr>
            <a:r>
              <a:rPr lang="en-US" sz="900" dirty="0">
                <a:solidFill>
                  <a:srgbClr val="999999"/>
                </a:solidFill>
                <a:latin typeface="Consolas" pitchFamily="34" charset="0"/>
                <a:ea typeface="Consolas" pitchFamily="34" charset="-122"/>
                <a:cs typeface="Consolas" pitchFamily="34" charset="-120"/>
              </a:rPr>
              <a:t>9 / 15</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7863840" cy="457200"/>
          </a:xfrm>
          <a:prstGeom prst="rect">
            <a:avLst/>
          </a:prstGeom>
          <a:noFill/>
          <a:ln/>
        </p:spPr>
        <p:txBody>
          <a:bodyPr wrap="square" lIns="0" tIns="0" rIns="0" bIns="0" rtlCol="0" anchor="t"/>
          <a:lstStyle/>
          <a:p>
            <a:pPr algn="l" indent="0" marL="0">
              <a:buNone/>
            </a:pPr>
            <a:r>
              <a:rPr lang="en-US" sz="2600" b="1" dirty="0">
                <a:solidFill>
                  <a:srgbClr val="1E3A5F"/>
                </a:solidFill>
                <a:latin typeface="Noto Sans KR" pitchFamily="34" charset="0"/>
                <a:ea typeface="Noto Sans KR" pitchFamily="34" charset="-122"/>
                <a:cs typeface="Noto Sans KR" pitchFamily="34" charset="-120"/>
              </a:rPr>
              <a:t>스팀은 두 개의 시장이다</a:t>
            </a:r>
            <a:endParaRPr lang="en-US" sz="2600" dirty="0"/>
          </a:p>
        </p:txBody>
      </p:sp>
      <p:sp>
        <p:nvSpPr>
          <p:cNvPr id="3" name="Shape 1"/>
          <p:cNvSpPr/>
          <p:nvPr/>
        </p:nvSpPr>
        <p:spPr>
          <a:xfrm>
            <a:off x="640080" y="886968"/>
            <a:ext cx="658368" cy="22860"/>
          </a:xfrm>
          <a:prstGeom prst="rect">
            <a:avLst/>
          </a:prstGeom>
          <a:solidFill>
            <a:srgbClr val="C8A45C"/>
          </a:solidFill>
          <a:ln w="12700">
            <a:solidFill>
              <a:srgbClr val="C8A45C"/>
            </a:solidFill>
            <a:prstDash val="solid"/>
          </a:ln>
        </p:spPr>
      </p:sp>
      <p:sp>
        <p:nvSpPr>
          <p:cNvPr id="4" name="Text 2"/>
          <p:cNvSpPr/>
          <p:nvPr/>
        </p:nvSpPr>
        <p:spPr>
          <a:xfrm>
            <a:off x="822960" y="1280160"/>
            <a:ext cx="7498080" cy="822960"/>
          </a:xfrm>
          <a:prstGeom prst="rect">
            <a:avLst/>
          </a:prstGeom>
          <a:noFill/>
          <a:ln/>
        </p:spPr>
        <p:txBody>
          <a:bodyPr wrap="square" lIns="0" tIns="0" rIns="0" bIns="0" rtlCol="0" anchor="t"/>
          <a:lstStyle/>
          <a:p>
            <a:pPr algn="ctr" indent="0" marL="0">
              <a:spcAft>
                <a:spcPts val="200"/>
              </a:spcAft>
              <a:buNone/>
            </a:pPr>
            <a:r>
              <a:rPr lang="en-US" sz="1100" dirty="0">
                <a:solidFill>
                  <a:srgbClr val="666666"/>
                </a:solidFill>
                <a:latin typeface="Noto Sans KR" pitchFamily="34" charset="0"/>
                <a:ea typeface="Noto Sans KR" pitchFamily="34" charset="-122"/>
                <a:cs typeface="Noto Sans KR" pitchFamily="34" charset="-120"/>
              </a:rPr>
              <a:t>GDC 24 크리스 주코프스키의 핵심 통찰. 스팀은 한 시장이 아니라 두 시장이다. 진입 임계점은 출시 후 6~9개월 내 누적 매출 $260,000 — 이 선을 넘은 상위 6%에게만 데일리 딜·위크엔드 딜 같은 진짜 스팀이 열린다. 두 시장은 마케팅 플레이북이 완전히 다르다.</a:t>
            </a:r>
            <a:endParaRPr lang="en-US" sz="1100" dirty="0"/>
          </a:p>
        </p:txBody>
      </p:sp>
      <p:sp>
        <p:nvSpPr>
          <p:cNvPr id="5" name="Shape 3"/>
          <p:cNvSpPr/>
          <p:nvPr/>
        </p:nvSpPr>
        <p:spPr>
          <a:xfrm>
            <a:off x="640080" y="2194560"/>
            <a:ext cx="3785616" cy="2446020"/>
          </a:xfrm>
          <a:prstGeom prst="rect">
            <a:avLst/>
          </a:prstGeom>
          <a:solidFill>
            <a:srgbClr val="F4F5F7"/>
          </a:solidFill>
          <a:ln w="9525">
            <a:solidFill>
              <a:srgbClr val="E0E3E8"/>
            </a:solidFill>
            <a:prstDash val="solid"/>
          </a:ln>
        </p:spPr>
      </p:sp>
      <p:sp>
        <p:nvSpPr>
          <p:cNvPr id="6" name="Shape 4"/>
          <p:cNvSpPr/>
          <p:nvPr/>
        </p:nvSpPr>
        <p:spPr>
          <a:xfrm>
            <a:off x="640080" y="2194560"/>
            <a:ext cx="3785616" cy="54864"/>
          </a:xfrm>
          <a:prstGeom prst="rect">
            <a:avLst/>
          </a:prstGeom>
          <a:solidFill>
            <a:srgbClr val="666666"/>
          </a:solidFill>
          <a:ln w="12700">
            <a:solidFill>
              <a:srgbClr val="666666"/>
            </a:solidFill>
            <a:prstDash val="solid"/>
          </a:ln>
        </p:spPr>
      </p:sp>
      <p:sp>
        <p:nvSpPr>
          <p:cNvPr id="7" name="Text 5"/>
          <p:cNvSpPr/>
          <p:nvPr/>
        </p:nvSpPr>
        <p:spPr>
          <a:xfrm>
            <a:off x="822960" y="2331720"/>
            <a:ext cx="3419856" cy="292608"/>
          </a:xfrm>
          <a:prstGeom prst="rect">
            <a:avLst/>
          </a:prstGeom>
          <a:noFill/>
          <a:ln/>
        </p:spPr>
        <p:txBody>
          <a:bodyPr wrap="square" lIns="0" tIns="0" rIns="0" bIns="0" rtlCol="0" anchor="t"/>
          <a:lstStyle/>
          <a:p>
            <a:pPr indent="0" marL="0">
              <a:buNone/>
            </a:pPr>
            <a:r>
              <a:rPr lang="en-US" sz="1400" b="1" spc="400" kern="0" dirty="0">
                <a:solidFill>
                  <a:srgbClr val="666666"/>
                </a:solidFill>
                <a:latin typeface="Noto Sans KR" pitchFamily="34" charset="0"/>
                <a:ea typeface="Noto Sans KR" pitchFamily="34" charset="-122"/>
                <a:cs typeface="Noto Sans KR" pitchFamily="34" charset="-120"/>
              </a:rPr>
              <a:t>초기 인디</a:t>
            </a:r>
            <a:endParaRPr lang="en-US" sz="1400" dirty="0"/>
          </a:p>
        </p:txBody>
      </p:sp>
      <p:sp>
        <p:nvSpPr>
          <p:cNvPr id="8" name="Text 6"/>
          <p:cNvSpPr/>
          <p:nvPr/>
        </p:nvSpPr>
        <p:spPr>
          <a:xfrm>
            <a:off x="822960" y="2651760"/>
            <a:ext cx="3419856" cy="228600"/>
          </a:xfrm>
          <a:prstGeom prst="rect">
            <a:avLst/>
          </a:prstGeom>
          <a:noFill/>
          <a:ln/>
        </p:spPr>
        <p:txBody>
          <a:bodyPr wrap="square" lIns="0" tIns="0" rIns="0" bIns="0" rtlCol="0" anchor="t"/>
          <a:lstStyle/>
          <a:p>
            <a:pPr indent="0" marL="0">
              <a:buNone/>
            </a:pPr>
            <a:r>
              <a:rPr lang="en-US" sz="900" spc="100" kern="0" dirty="0">
                <a:solidFill>
                  <a:srgbClr val="999999"/>
                </a:solidFill>
                <a:latin typeface="Consolas" pitchFamily="34" charset="0"/>
                <a:ea typeface="Consolas" pitchFamily="34" charset="-122"/>
                <a:cs typeface="Consolas" pitchFamily="34" charset="-120"/>
              </a:rPr>
              <a:t>94% · DISCOVERY QUEUE 의존</a:t>
            </a:r>
            <a:endParaRPr lang="en-US" sz="900" dirty="0"/>
          </a:p>
        </p:txBody>
      </p:sp>
      <p:sp>
        <p:nvSpPr>
          <p:cNvPr id="9" name="Text 7"/>
          <p:cNvSpPr/>
          <p:nvPr/>
        </p:nvSpPr>
        <p:spPr>
          <a:xfrm>
            <a:off x="868680" y="2971800"/>
            <a:ext cx="3328416" cy="1531620"/>
          </a:xfrm>
          <a:prstGeom prst="rect">
            <a:avLst/>
          </a:prstGeom>
          <a:noFill/>
          <a:ln/>
        </p:spPr>
        <p:txBody>
          <a:bodyPr wrap="square" lIns="0" tIns="0" rIns="0" bIns="0" rtlCol="0" anchor="t"/>
          <a:lstStyle/>
          <a:p>
            <a:pPr algn="just" marL="342900" indent="-342900">
              <a:lnSpc>
                <a:spcPct val="120000"/>
              </a:lnSpc>
              <a:spcAft>
                <a:spcPts val="400"/>
              </a:spcAft>
              <a:buSzPct val="100000"/>
              <a:buChar char="—"/>
            </a:pPr>
            <a:r>
              <a:rPr lang="en-US" sz="1000" dirty="0">
                <a:solidFill>
                  <a:srgbClr val="666666"/>
                </a:solidFill>
                <a:latin typeface="Noto Sans KR" pitchFamily="34" charset="0"/>
                <a:ea typeface="Noto Sans KR" pitchFamily="34" charset="-122"/>
                <a:cs typeface="Noto Sans KR" pitchFamily="34" charset="-120"/>
              </a:rPr>
              <a:t>번역 우선순위: 중국어 → 일본어·한국어 → FIGS</a:t>
            </a:r>
            <a:endParaRPr lang="en-US" sz="1000" dirty="0"/>
          </a:p>
          <a:p>
            <a:pPr algn="just" marL="342900" indent="-342900">
              <a:lnSpc>
                <a:spcPct val="120000"/>
              </a:lnSpc>
              <a:spcAft>
                <a:spcPts val="400"/>
              </a:spcAft>
              <a:buSzPct val="100000"/>
              <a:buChar char="—"/>
            </a:pPr>
            <a:r>
              <a:rPr lang="en-US" sz="1000" dirty="0">
                <a:solidFill>
                  <a:srgbClr val="666666"/>
                </a:solidFill>
                <a:latin typeface="Noto Sans KR" pitchFamily="34" charset="0"/>
                <a:ea typeface="Noto Sans KR" pitchFamily="34" charset="-122"/>
                <a:cs typeface="Noto Sans KR" pitchFamily="34" charset="-120"/>
              </a:rPr>
              <a:t>월요일 출시 강추 (주말 3일 노출 유지) · 화요일 금지</a:t>
            </a:r>
            <a:endParaRPr lang="en-US" sz="1000" dirty="0"/>
          </a:p>
          <a:p>
            <a:pPr algn="just" marL="342900" indent="-342900">
              <a:lnSpc>
                <a:spcPct val="120000"/>
              </a:lnSpc>
              <a:spcAft>
                <a:spcPts val="400"/>
              </a:spcAft>
              <a:buSzPct val="100000"/>
              <a:buChar char="—"/>
            </a:pPr>
            <a:r>
              <a:rPr lang="en-US" sz="1000" dirty="0">
                <a:solidFill>
                  <a:srgbClr val="666666"/>
                </a:solidFill>
                <a:latin typeface="Noto Sans KR" pitchFamily="34" charset="0"/>
                <a:ea typeface="Noto Sans KR" pitchFamily="34" charset="-122"/>
                <a:cs typeface="Noto Sans KR" pitchFamily="34" charset="-120"/>
              </a:rPr>
              <a:t>AAA와 같은 날 출시 → 경쟁 피한 게임들이 빠져 슬롯 확보</a:t>
            </a:r>
            <a:endParaRPr lang="en-US" sz="1000" dirty="0"/>
          </a:p>
          <a:p>
            <a:pPr algn="just" marL="342900" indent="-342900">
              <a:lnSpc>
                <a:spcPct val="120000"/>
              </a:lnSpc>
              <a:spcAft>
                <a:spcPts val="400"/>
              </a:spcAft>
              <a:buSzPct val="100000"/>
              <a:buChar char="—"/>
            </a:pPr>
            <a:r>
              <a:rPr lang="en-US" sz="1000" dirty="0">
                <a:solidFill>
                  <a:srgbClr val="666666"/>
                </a:solidFill>
                <a:latin typeface="Noto Sans KR" pitchFamily="34" charset="0"/>
                <a:ea typeface="Noto Sans KR" pitchFamily="34" charset="-122"/>
                <a:cs typeface="Noto Sans KR" pitchFamily="34" charset="-120"/>
              </a:rPr>
              <a:t>출시 첫 2일 25,000회 노출이 분기점 · 3일째 성과가 이후 결정</a:t>
            </a:r>
            <a:endParaRPr lang="en-US" sz="1000" dirty="0"/>
          </a:p>
          <a:p>
            <a:pPr algn="just" marL="342900" indent="-342900">
              <a:lnSpc>
                <a:spcPct val="120000"/>
              </a:lnSpc>
              <a:spcAft>
                <a:spcPts val="400"/>
              </a:spcAft>
              <a:buSzPct val="100000"/>
              <a:buChar char="—"/>
            </a:pPr>
            <a:r>
              <a:rPr lang="en-US" sz="1000" dirty="0">
                <a:solidFill>
                  <a:srgbClr val="666666"/>
                </a:solidFill>
                <a:latin typeface="Noto Sans KR" pitchFamily="34" charset="0"/>
                <a:ea typeface="Noto Sans KR" pitchFamily="34" charset="-122"/>
                <a:cs typeface="Noto Sans KR" pitchFamily="34" charset="-120"/>
              </a:rPr>
              <a:t>퍼블리시 버튼 누락 시 $8,000/일 기준 재산정 — 절대 잊지 말 것</a:t>
            </a:r>
            <a:endParaRPr lang="en-US" sz="1000" dirty="0"/>
          </a:p>
        </p:txBody>
      </p:sp>
      <p:sp>
        <p:nvSpPr>
          <p:cNvPr id="10" name="Shape 8"/>
          <p:cNvSpPr/>
          <p:nvPr/>
        </p:nvSpPr>
        <p:spPr>
          <a:xfrm>
            <a:off x="4718304" y="2194560"/>
            <a:ext cx="3785616" cy="2446020"/>
          </a:xfrm>
          <a:prstGeom prst="rect">
            <a:avLst/>
          </a:prstGeom>
          <a:solidFill>
            <a:srgbClr val="F4F5F7"/>
          </a:solidFill>
          <a:ln w="9525">
            <a:solidFill>
              <a:srgbClr val="E0E3E8"/>
            </a:solidFill>
            <a:prstDash val="solid"/>
          </a:ln>
        </p:spPr>
      </p:sp>
      <p:sp>
        <p:nvSpPr>
          <p:cNvPr id="11" name="Shape 9"/>
          <p:cNvSpPr/>
          <p:nvPr/>
        </p:nvSpPr>
        <p:spPr>
          <a:xfrm>
            <a:off x="4718304" y="2194560"/>
            <a:ext cx="3785616" cy="54864"/>
          </a:xfrm>
          <a:prstGeom prst="rect">
            <a:avLst/>
          </a:prstGeom>
          <a:solidFill>
            <a:srgbClr val="1E3A5F"/>
          </a:solidFill>
          <a:ln w="12700">
            <a:solidFill>
              <a:srgbClr val="1E3A5F"/>
            </a:solidFill>
            <a:prstDash val="solid"/>
          </a:ln>
        </p:spPr>
      </p:sp>
      <p:sp>
        <p:nvSpPr>
          <p:cNvPr id="12" name="Text 10"/>
          <p:cNvSpPr/>
          <p:nvPr/>
        </p:nvSpPr>
        <p:spPr>
          <a:xfrm>
            <a:off x="4901184" y="2331720"/>
            <a:ext cx="3419856" cy="292608"/>
          </a:xfrm>
          <a:prstGeom prst="rect">
            <a:avLst/>
          </a:prstGeom>
          <a:noFill/>
          <a:ln/>
        </p:spPr>
        <p:txBody>
          <a:bodyPr wrap="square" lIns="0" tIns="0" rIns="0" bIns="0" rtlCol="0" anchor="t"/>
          <a:lstStyle/>
          <a:p>
            <a:pPr indent="0" marL="0">
              <a:buNone/>
            </a:pPr>
            <a:r>
              <a:rPr lang="en-US" sz="1400" b="1" spc="400" kern="0" dirty="0">
                <a:solidFill>
                  <a:srgbClr val="1E3A5F"/>
                </a:solidFill>
                <a:latin typeface="Noto Sans KR" pitchFamily="34" charset="0"/>
                <a:ea typeface="Noto Sans KR" pitchFamily="34" charset="-122"/>
                <a:cs typeface="Noto Sans KR" pitchFamily="34" charset="-120"/>
              </a:rPr>
              <a:t>레알 스팀</a:t>
            </a:r>
            <a:endParaRPr lang="en-US" sz="1400" dirty="0"/>
          </a:p>
        </p:txBody>
      </p:sp>
      <p:sp>
        <p:nvSpPr>
          <p:cNvPr id="13" name="Text 11"/>
          <p:cNvSpPr/>
          <p:nvPr/>
        </p:nvSpPr>
        <p:spPr>
          <a:xfrm>
            <a:off x="4901184" y="2651760"/>
            <a:ext cx="3419856" cy="228600"/>
          </a:xfrm>
          <a:prstGeom prst="rect">
            <a:avLst/>
          </a:prstGeom>
          <a:noFill/>
          <a:ln/>
        </p:spPr>
        <p:txBody>
          <a:bodyPr wrap="square" lIns="0" tIns="0" rIns="0" bIns="0" rtlCol="0" anchor="t"/>
          <a:lstStyle/>
          <a:p>
            <a:pPr indent="0" marL="0">
              <a:buNone/>
            </a:pPr>
            <a:r>
              <a:rPr lang="en-US" sz="900" spc="100" kern="0" dirty="0">
                <a:solidFill>
                  <a:srgbClr val="999999"/>
                </a:solidFill>
                <a:latin typeface="Consolas" pitchFamily="34" charset="0"/>
                <a:ea typeface="Consolas" pitchFamily="34" charset="-122"/>
                <a:cs typeface="Consolas" pitchFamily="34" charset="-120"/>
              </a:rPr>
              <a:t>상위 6% · 출시 6~9개월 내 $260K+</a:t>
            </a:r>
            <a:endParaRPr lang="en-US" sz="900" dirty="0"/>
          </a:p>
        </p:txBody>
      </p:sp>
      <p:sp>
        <p:nvSpPr>
          <p:cNvPr id="14" name="Text 12"/>
          <p:cNvSpPr/>
          <p:nvPr/>
        </p:nvSpPr>
        <p:spPr>
          <a:xfrm>
            <a:off x="4946904" y="2971800"/>
            <a:ext cx="3328416" cy="1531620"/>
          </a:xfrm>
          <a:prstGeom prst="rect">
            <a:avLst/>
          </a:prstGeom>
          <a:noFill/>
          <a:ln/>
        </p:spPr>
        <p:txBody>
          <a:bodyPr wrap="square" lIns="0" tIns="0" rIns="0" bIns="0" rtlCol="0" anchor="t"/>
          <a:lstStyle/>
          <a:p>
            <a:pPr algn="just" marL="342900" indent="-342900">
              <a:lnSpc>
                <a:spcPct val="120000"/>
              </a:lnSpc>
              <a:spcAft>
                <a:spcPts val="400"/>
              </a:spcAft>
              <a:buSzPct val="100000"/>
              <a:buChar char="▸"/>
            </a:pPr>
            <a:r>
              <a:rPr lang="en-US" sz="1000" dirty="0">
                <a:solidFill>
                  <a:srgbClr val="666666"/>
                </a:solidFill>
                <a:latin typeface="Noto Sans KR" pitchFamily="34" charset="0"/>
                <a:ea typeface="Noto Sans KR" pitchFamily="34" charset="-122"/>
                <a:cs typeface="Noto Sans KR" pitchFamily="34" charset="-120"/>
              </a:rPr>
              <a:t>밸브 프로모션 제안 무조건 YES (데일리 딜 ~$250K, 위크엔드 ~$1M)</a:t>
            </a:r>
            <a:endParaRPr lang="en-US" sz="1000" dirty="0"/>
          </a:p>
          <a:p>
            <a:pPr algn="just" marL="342900" indent="-342900">
              <a:lnSpc>
                <a:spcPct val="120000"/>
              </a:lnSpc>
              <a:spcAft>
                <a:spcPts val="400"/>
              </a:spcAft>
              <a:buSzPct val="100000"/>
              <a:buChar char="▸"/>
            </a:pPr>
            <a:r>
              <a:rPr lang="en-US" sz="1000" dirty="0">
                <a:solidFill>
                  <a:srgbClr val="666666"/>
                </a:solidFill>
                <a:latin typeface="Noto Sans KR" pitchFamily="34" charset="0"/>
                <a:ea typeface="Noto Sans KR" pitchFamily="34" charset="-122"/>
                <a:cs typeface="Noto Sans KR" pitchFamily="34" charset="-120"/>
              </a:rPr>
              <a:t>출시 할인을 시즌 세일과 겹치게 → 30일 제한 우회</a:t>
            </a:r>
            <a:endParaRPr lang="en-US" sz="1000" dirty="0"/>
          </a:p>
          <a:p>
            <a:pPr algn="just" marL="342900" indent="-342900">
              <a:lnSpc>
                <a:spcPct val="120000"/>
              </a:lnSpc>
              <a:spcAft>
                <a:spcPts val="400"/>
              </a:spcAft>
              <a:buSzPct val="100000"/>
              <a:buChar char="▸"/>
            </a:pPr>
            <a:r>
              <a:rPr lang="en-US" sz="1000" dirty="0">
                <a:solidFill>
                  <a:srgbClr val="666666"/>
                </a:solidFill>
                <a:latin typeface="Noto Sans KR" pitchFamily="34" charset="0"/>
                <a:ea typeface="Noto Sans KR" pitchFamily="34" charset="-122"/>
                <a:cs typeface="Noto Sans KR" pitchFamily="34" charset="-120"/>
              </a:rPr>
              <a:t>쇼케이스 슬롯 = 배너 광고보다 효율 압도</a:t>
            </a:r>
            <a:endParaRPr lang="en-US" sz="1000" dirty="0"/>
          </a:p>
          <a:p>
            <a:pPr algn="just" marL="342900" indent="-342900">
              <a:lnSpc>
                <a:spcPct val="120000"/>
              </a:lnSpc>
              <a:spcAft>
                <a:spcPts val="400"/>
              </a:spcAft>
              <a:buSzPct val="100000"/>
              <a:buChar char="▸"/>
            </a:pPr>
            <a:r>
              <a:rPr lang="en-US" sz="1000" dirty="0">
                <a:solidFill>
                  <a:srgbClr val="666666"/>
                </a:solidFill>
                <a:latin typeface="Noto Sans KR" pitchFamily="34" charset="0"/>
                <a:ea typeface="Noto Sans KR" pitchFamily="34" charset="-122"/>
                <a:cs typeface="Noto Sans KR" pitchFamily="34" charset="-120"/>
              </a:rPr>
              <a:t>1~2년 전부터 빌드·아트 공유, 파트너 커넥트 비공개 행사 최우선</a:t>
            </a:r>
            <a:endParaRPr lang="en-US" sz="1000" dirty="0"/>
          </a:p>
          <a:p>
            <a:pPr algn="just" marL="342900" indent="-342900">
              <a:lnSpc>
                <a:spcPct val="120000"/>
              </a:lnSpc>
              <a:spcAft>
                <a:spcPts val="400"/>
              </a:spcAft>
              <a:buSzPct val="100000"/>
              <a:buChar char="▸"/>
            </a:pPr>
            <a:r>
              <a:rPr lang="en-US" sz="1000" dirty="0">
                <a:solidFill>
                  <a:srgbClr val="666666"/>
                </a:solidFill>
                <a:latin typeface="Noto Sans KR" pitchFamily="34" charset="0"/>
                <a:ea typeface="Noto Sans KR" pitchFamily="34" charset="-122"/>
                <a:cs typeface="Noto Sans KR" pitchFamily="34" charset="-120"/>
              </a:rPr>
              <a:t>요청해야만 해준다 — 스팀은 절대 먼저 알려주지 않는다</a:t>
            </a:r>
            <a:endParaRPr lang="en-US" sz="1000" dirty="0"/>
          </a:p>
        </p:txBody>
      </p:sp>
      <p:sp>
        <p:nvSpPr>
          <p:cNvPr id="16" name="Text 13"/>
          <p:cNvSpPr/>
          <p:nvPr/>
        </p:nvSpPr>
        <p:spPr>
          <a:xfrm>
            <a:off x="8046720" y="4777740"/>
            <a:ext cx="822960" cy="228600"/>
          </a:xfrm>
          <a:prstGeom prst="rect">
            <a:avLst/>
          </a:prstGeom>
          <a:noFill/>
          <a:ln/>
        </p:spPr>
        <p:txBody>
          <a:bodyPr wrap="square" lIns="0" tIns="0" rIns="0" bIns="0" rtlCol="0" anchor="ctr"/>
          <a:lstStyle/>
          <a:p>
            <a:pPr algn="r" indent="0" marL="0">
              <a:buNone/>
            </a:pPr>
            <a:r>
              <a:rPr lang="en-US" sz="900" dirty="0">
                <a:solidFill>
                  <a:srgbClr val="999999"/>
                </a:solidFill>
                <a:latin typeface="Consolas" pitchFamily="34" charset="0"/>
                <a:ea typeface="Consolas" pitchFamily="34" charset="-122"/>
                <a:cs typeface="Consolas" pitchFamily="34" charset="-120"/>
              </a:rPr>
              <a:t>10 / 15</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7863840" cy="457200"/>
          </a:xfrm>
          <a:prstGeom prst="rect">
            <a:avLst/>
          </a:prstGeom>
          <a:noFill/>
          <a:ln/>
        </p:spPr>
        <p:txBody>
          <a:bodyPr wrap="square" lIns="0" tIns="0" rIns="0" bIns="0" rtlCol="0" anchor="t"/>
          <a:lstStyle/>
          <a:p>
            <a:pPr algn="l" indent="0" marL="0">
              <a:buNone/>
            </a:pPr>
            <a:r>
              <a:rPr lang="en-US" sz="2600" b="1" dirty="0">
                <a:solidFill>
                  <a:srgbClr val="1E3A5F"/>
                </a:solidFill>
                <a:latin typeface="Noto Sans KR" pitchFamily="34" charset="0"/>
                <a:ea typeface="Noto Sans KR" pitchFamily="34" charset="-122"/>
                <a:cs typeface="Noto Sans KR" pitchFamily="34" charset="-120"/>
              </a:rPr>
              <a:t>2026 마케팅 캘린더</a:t>
            </a:r>
            <a:endParaRPr lang="en-US" sz="2600" dirty="0"/>
          </a:p>
        </p:txBody>
      </p:sp>
      <p:sp>
        <p:nvSpPr>
          <p:cNvPr id="3" name="Shape 1"/>
          <p:cNvSpPr/>
          <p:nvPr/>
        </p:nvSpPr>
        <p:spPr>
          <a:xfrm>
            <a:off x="640080" y="886968"/>
            <a:ext cx="658368" cy="22860"/>
          </a:xfrm>
          <a:prstGeom prst="rect">
            <a:avLst/>
          </a:prstGeom>
          <a:solidFill>
            <a:srgbClr val="C8A45C"/>
          </a:solidFill>
          <a:ln w="12700">
            <a:solidFill>
              <a:srgbClr val="C8A45C"/>
            </a:solidFill>
            <a:prstDash val="solid"/>
          </a:ln>
        </p:spPr>
      </p:sp>
      <p:sp>
        <p:nvSpPr>
          <p:cNvPr id="4" name="Text 2"/>
          <p:cNvSpPr/>
          <p:nvPr/>
        </p:nvSpPr>
        <p:spPr>
          <a:xfrm>
            <a:off x="731520" y="1280160"/>
            <a:ext cx="7680960" cy="868680"/>
          </a:xfrm>
          <a:prstGeom prst="rect">
            <a:avLst/>
          </a:prstGeom>
          <a:noFill/>
          <a:ln/>
        </p:spPr>
        <p:txBody>
          <a:bodyPr wrap="square" lIns="0" tIns="0" rIns="0" bIns="0" rtlCol="0" anchor="t"/>
          <a:lstStyle/>
          <a:p>
            <a:pPr algn="just" indent="0" marL="0">
              <a:lnSpc>
                <a:spcPct val="125000"/>
              </a:lnSpc>
              <a:spcAft>
                <a:spcPts val="400"/>
              </a:spcAft>
              <a:buNone/>
            </a:pPr>
            <a:r>
              <a:rPr lang="en-US" sz="1400" dirty="0">
                <a:solidFill>
                  <a:srgbClr val="333333"/>
                </a:solidFill>
                <a:latin typeface="Noto Sans KR" pitchFamily="34" charset="0"/>
                <a:ea typeface="Noto Sans KR" pitchFamily="34" charset="-122"/>
                <a:cs typeface="Noto Sans KR" pitchFamily="34" charset="-120"/>
              </a:rPr>
              <a:t>GTA 6가 11월 19일 출시되면서 연도를 양분한다. 전후로 모든 AAA가 회피 출시를 결정하기 때문에 유효한 출시 윈도우 자체가 좁아진다. 캘린더 설계가 곧 경쟁 회피 전략이 된다.</a:t>
            </a:r>
            <a:endParaRPr lang="en-US" sz="1400" dirty="0"/>
          </a:p>
        </p:txBody>
      </p:sp>
      <p:sp>
        <p:nvSpPr>
          <p:cNvPr id="5" name="Shape 3"/>
          <p:cNvSpPr/>
          <p:nvPr/>
        </p:nvSpPr>
        <p:spPr>
          <a:xfrm>
            <a:off x="731520" y="2313432"/>
            <a:ext cx="109728" cy="109728"/>
          </a:xfrm>
          <a:prstGeom prst="rect">
            <a:avLst/>
          </a:prstGeom>
          <a:solidFill>
            <a:srgbClr val="C8A45C"/>
          </a:solidFill>
          <a:ln w="12700">
            <a:solidFill>
              <a:srgbClr val="C8A45C"/>
            </a:solidFill>
            <a:prstDash val="solid"/>
          </a:ln>
        </p:spPr>
      </p:sp>
      <p:sp>
        <p:nvSpPr>
          <p:cNvPr id="6" name="Text 4"/>
          <p:cNvSpPr/>
          <p:nvPr/>
        </p:nvSpPr>
        <p:spPr>
          <a:xfrm>
            <a:off x="1005840" y="2194560"/>
            <a:ext cx="7406640" cy="342900"/>
          </a:xfrm>
          <a:prstGeom prst="rect">
            <a:avLst/>
          </a:prstGeom>
          <a:noFill/>
          <a:ln/>
        </p:spPr>
        <p:txBody>
          <a:bodyPr wrap="square" lIns="0" tIns="0" rIns="0" bIns="0" rtlCol="0" anchor="t"/>
          <a:lstStyle/>
          <a:p>
            <a:pPr algn="just" indent="0" marL="0">
              <a:lnSpc>
                <a:spcPct val="125000"/>
              </a:lnSpc>
              <a:spcAft>
                <a:spcPts val="1400"/>
              </a:spcAft>
              <a:buNone/>
            </a:pPr>
            <a:r>
              <a:rPr lang="en-US" sz="1300" b="1" dirty="0">
                <a:solidFill>
                  <a:srgbClr val="1E3A5F"/>
                </a:solidFill>
                <a:latin typeface="Noto Sans KR" pitchFamily="34" charset="0"/>
                <a:ea typeface="Noto Sans KR" pitchFamily="34" charset="-122"/>
                <a:cs typeface="Noto Sans KR" pitchFamily="34" charset="-120"/>
              </a:rPr>
              <a:t>Q2(4~6월) = 황금 런치 윈도우</a:t>
            </a:r>
            <a:pPr algn="just" indent="0" marL="0">
              <a:lnSpc>
                <a:spcPct val="125000"/>
              </a:lnSpc>
              <a:spcAft>
                <a:spcPts val="1400"/>
              </a:spcAft>
              <a:buNone/>
            </a:pPr>
            <a:r>
              <a:rPr lang="en-US" sz="1300" dirty="0">
                <a:solidFill>
                  <a:srgbClr val="666666"/>
                </a:solidFill>
                <a:latin typeface="Noto Sans KR" pitchFamily="34" charset="0"/>
                <a:ea typeface="Noto Sans KR" pitchFamily="34" charset="-122"/>
                <a:cs typeface="Noto Sans KR" pitchFamily="34" charset="-120"/>
              </a:rPr>
              <a:t> — GTA 6 회피 출시들이 자연스럽게 비워둔 사각지대. 5~6월에는 큐레이션 쇼케이스(SGF, Triple-i Initiative)도 집중되어 노출 기회가 가장 많다.</a:t>
            </a:r>
            <a:endParaRPr lang="en-US" sz="1300" dirty="0"/>
          </a:p>
        </p:txBody>
      </p:sp>
      <p:sp>
        <p:nvSpPr>
          <p:cNvPr id="7" name="Shape 5"/>
          <p:cNvSpPr/>
          <p:nvPr/>
        </p:nvSpPr>
        <p:spPr>
          <a:xfrm>
            <a:off x="731520" y="2839212"/>
            <a:ext cx="109728" cy="109728"/>
          </a:xfrm>
          <a:prstGeom prst="rect">
            <a:avLst/>
          </a:prstGeom>
          <a:solidFill>
            <a:srgbClr val="C8A45C"/>
          </a:solidFill>
          <a:ln w="12700">
            <a:solidFill>
              <a:srgbClr val="C8A45C"/>
            </a:solidFill>
            <a:prstDash val="solid"/>
          </a:ln>
        </p:spPr>
      </p:sp>
      <p:sp>
        <p:nvSpPr>
          <p:cNvPr id="8" name="Text 6"/>
          <p:cNvSpPr/>
          <p:nvPr/>
        </p:nvSpPr>
        <p:spPr>
          <a:xfrm>
            <a:off x="1005840" y="2720340"/>
            <a:ext cx="7406640" cy="342900"/>
          </a:xfrm>
          <a:prstGeom prst="rect">
            <a:avLst/>
          </a:prstGeom>
          <a:noFill/>
          <a:ln/>
        </p:spPr>
        <p:txBody>
          <a:bodyPr wrap="square" lIns="0" tIns="0" rIns="0" bIns="0" rtlCol="0" anchor="t"/>
          <a:lstStyle/>
          <a:p>
            <a:pPr algn="just" indent="0" marL="0">
              <a:lnSpc>
                <a:spcPct val="125000"/>
              </a:lnSpc>
              <a:spcAft>
                <a:spcPts val="1400"/>
              </a:spcAft>
              <a:buNone/>
            </a:pPr>
            <a:r>
              <a:rPr lang="en-US" sz="1300" b="1" dirty="0">
                <a:solidFill>
                  <a:srgbClr val="1E3A5F"/>
                </a:solidFill>
                <a:latin typeface="Noto Sans KR" pitchFamily="34" charset="0"/>
                <a:ea typeface="Noto Sans KR" pitchFamily="34" charset="-122"/>
                <a:cs typeface="Noto Sans KR" pitchFamily="34" charset="-120"/>
              </a:rPr>
              <a:t>Steam Next Fest는 출시 전 1회만 사용</a:t>
            </a:r>
            <a:pPr algn="just" indent="0" marL="0">
              <a:lnSpc>
                <a:spcPct val="125000"/>
              </a:lnSpc>
              <a:spcAft>
                <a:spcPts val="1400"/>
              </a:spcAft>
              <a:buNone/>
            </a:pPr>
            <a:r>
              <a:rPr lang="en-US" sz="1300" dirty="0">
                <a:solidFill>
                  <a:srgbClr val="666666"/>
                </a:solidFill>
                <a:latin typeface="Noto Sans KR" pitchFamily="34" charset="0"/>
                <a:ea typeface="Noto Sans KR" pitchFamily="34" charset="-122"/>
                <a:cs typeface="Noto Sans KR" pitchFamily="34" charset="-120"/>
              </a:rPr>
              <a:t> — 두 번째 참가는 모멘텀이 분산되고, 알고리즘 가중치도 첫 참가에 비해 떨어진다. 사전 위시리스트 2,000개 이상을 확보한 뒤 입장하는 게 원칙.</a:t>
            </a:r>
            <a:endParaRPr lang="en-US" sz="1300" dirty="0"/>
          </a:p>
        </p:txBody>
      </p:sp>
      <p:sp>
        <p:nvSpPr>
          <p:cNvPr id="9" name="Shape 7"/>
          <p:cNvSpPr/>
          <p:nvPr/>
        </p:nvSpPr>
        <p:spPr>
          <a:xfrm>
            <a:off x="731520" y="3364992"/>
            <a:ext cx="109728" cy="109728"/>
          </a:xfrm>
          <a:prstGeom prst="rect">
            <a:avLst/>
          </a:prstGeom>
          <a:solidFill>
            <a:srgbClr val="C8A45C"/>
          </a:solidFill>
          <a:ln w="12700">
            <a:solidFill>
              <a:srgbClr val="C8A45C"/>
            </a:solidFill>
            <a:prstDash val="solid"/>
          </a:ln>
        </p:spPr>
      </p:sp>
      <p:sp>
        <p:nvSpPr>
          <p:cNvPr id="10" name="Text 8"/>
          <p:cNvSpPr/>
          <p:nvPr/>
        </p:nvSpPr>
        <p:spPr>
          <a:xfrm>
            <a:off x="1005840" y="3246120"/>
            <a:ext cx="7406640" cy="342900"/>
          </a:xfrm>
          <a:prstGeom prst="rect">
            <a:avLst/>
          </a:prstGeom>
          <a:noFill/>
          <a:ln/>
        </p:spPr>
        <p:txBody>
          <a:bodyPr wrap="square" lIns="0" tIns="0" rIns="0" bIns="0" rtlCol="0" anchor="t"/>
          <a:lstStyle/>
          <a:p>
            <a:pPr algn="just" indent="0" marL="0">
              <a:lnSpc>
                <a:spcPct val="125000"/>
              </a:lnSpc>
              <a:spcAft>
                <a:spcPts val="1400"/>
              </a:spcAft>
              <a:buNone/>
            </a:pPr>
            <a:r>
              <a:rPr lang="en-US" sz="1300" b="1" dirty="0">
                <a:solidFill>
                  <a:srgbClr val="1E3A5F"/>
                </a:solidFill>
                <a:latin typeface="Noto Sans KR" pitchFamily="34" charset="0"/>
                <a:ea typeface="Noto Sans KR" pitchFamily="34" charset="-122"/>
                <a:cs typeface="Noto Sans KR" pitchFamily="34" charset="-120"/>
              </a:rPr>
              <a:t>크리에이터 중심 전략 필수</a:t>
            </a:r>
            <a:pPr algn="just" indent="0" marL="0">
              <a:lnSpc>
                <a:spcPct val="125000"/>
              </a:lnSpc>
              <a:spcAft>
                <a:spcPts val="1400"/>
              </a:spcAft>
              <a:buNone/>
            </a:pPr>
            <a:r>
              <a:rPr lang="en-US" sz="1300" dirty="0">
                <a:solidFill>
                  <a:srgbClr val="666666"/>
                </a:solidFill>
                <a:latin typeface="Noto Sans KR" pitchFamily="34" charset="0"/>
                <a:ea typeface="Noto Sans KR" pitchFamily="34" charset="-122"/>
                <a:cs typeface="Noto Sans KR" pitchFamily="34" charset="-120"/>
              </a:rPr>
              <a:t> — 전통 게임 미디어 인력은 축소 추세이고 TikTok·YouTube의 발견 영향력이 PR보다 크다. 발매 4~6주 전부터 인플루언서 선정·접촉을 시작해야 한다.</a:t>
            </a:r>
            <a:endParaRPr lang="en-US" sz="1300" dirty="0"/>
          </a:p>
        </p:txBody>
      </p:sp>
      <p:sp>
        <p:nvSpPr>
          <p:cNvPr id="11" name="Shape 9"/>
          <p:cNvSpPr/>
          <p:nvPr/>
        </p:nvSpPr>
        <p:spPr>
          <a:xfrm>
            <a:off x="731520" y="3890772"/>
            <a:ext cx="109728" cy="109728"/>
          </a:xfrm>
          <a:prstGeom prst="rect">
            <a:avLst/>
          </a:prstGeom>
          <a:solidFill>
            <a:srgbClr val="C8A45C"/>
          </a:solidFill>
          <a:ln w="12700">
            <a:solidFill>
              <a:srgbClr val="C8A45C"/>
            </a:solidFill>
            <a:prstDash val="solid"/>
          </a:ln>
        </p:spPr>
      </p:sp>
      <p:sp>
        <p:nvSpPr>
          <p:cNvPr id="12" name="Text 10"/>
          <p:cNvSpPr/>
          <p:nvPr/>
        </p:nvSpPr>
        <p:spPr>
          <a:xfrm>
            <a:off x="1005840" y="3771900"/>
            <a:ext cx="7406640" cy="342900"/>
          </a:xfrm>
          <a:prstGeom prst="rect">
            <a:avLst/>
          </a:prstGeom>
          <a:noFill/>
          <a:ln/>
        </p:spPr>
        <p:txBody>
          <a:bodyPr wrap="square" lIns="0" tIns="0" rIns="0" bIns="0" rtlCol="0" anchor="t"/>
          <a:lstStyle/>
          <a:p>
            <a:pPr algn="just" indent="0" marL="0">
              <a:lnSpc>
                <a:spcPct val="125000"/>
              </a:lnSpc>
              <a:spcAft>
                <a:spcPts val="1400"/>
              </a:spcAft>
              <a:buNone/>
            </a:pPr>
            <a:r>
              <a:rPr lang="en-US" sz="1300" b="1" dirty="0">
                <a:solidFill>
                  <a:srgbClr val="1E3A5F"/>
                </a:solidFill>
                <a:latin typeface="Noto Sans KR" pitchFamily="34" charset="0"/>
                <a:ea typeface="Noto Sans KR" pitchFamily="34" charset="-122"/>
                <a:cs typeface="Noto Sans KR" pitchFamily="34" charset="-120"/>
              </a:rPr>
              <a:t>큐레이션 쇼케이스 슬롯</a:t>
            </a:r>
            <a:pPr algn="just" indent="0" marL="0">
              <a:lnSpc>
                <a:spcPct val="125000"/>
              </a:lnSpc>
              <a:spcAft>
                <a:spcPts val="1400"/>
              </a:spcAft>
              <a:buNone/>
            </a:pPr>
            <a:r>
              <a:rPr lang="en-US" sz="1300" dirty="0">
                <a:solidFill>
                  <a:srgbClr val="666666"/>
                </a:solidFill>
                <a:latin typeface="Noto Sans KR" pitchFamily="34" charset="0"/>
                <a:ea typeface="Noto Sans KR" pitchFamily="34" charset="-122"/>
                <a:cs typeface="Noto Sans KR" pitchFamily="34" charset="-120"/>
              </a:rPr>
              <a:t> (SGF, Triple-i Initiative, Day of the Devs 등) = 돈으로 살 수 없는 신뢰도. 광고 효율과 비교 불가하며, 슬롯 확보를 위해 1~2년 전부터 주최 측에 빌드를 보내고 관계를 쌓아야 한다.</a:t>
            </a:r>
            <a:endParaRPr lang="en-US" sz="1300" dirty="0"/>
          </a:p>
        </p:txBody>
      </p:sp>
      <p:sp>
        <p:nvSpPr>
          <p:cNvPr id="13" name="Shape 11"/>
          <p:cNvSpPr/>
          <p:nvPr/>
        </p:nvSpPr>
        <p:spPr>
          <a:xfrm>
            <a:off x="731520" y="4416552"/>
            <a:ext cx="109728" cy="109728"/>
          </a:xfrm>
          <a:prstGeom prst="rect">
            <a:avLst/>
          </a:prstGeom>
          <a:solidFill>
            <a:srgbClr val="C8A45C"/>
          </a:solidFill>
          <a:ln w="12700">
            <a:solidFill>
              <a:srgbClr val="C8A45C"/>
            </a:solidFill>
            <a:prstDash val="solid"/>
          </a:ln>
        </p:spPr>
      </p:sp>
      <p:sp>
        <p:nvSpPr>
          <p:cNvPr id="14" name="Text 12"/>
          <p:cNvSpPr/>
          <p:nvPr/>
        </p:nvSpPr>
        <p:spPr>
          <a:xfrm>
            <a:off x="1005840" y="4297680"/>
            <a:ext cx="7406640" cy="342900"/>
          </a:xfrm>
          <a:prstGeom prst="rect">
            <a:avLst/>
          </a:prstGeom>
          <a:noFill/>
          <a:ln/>
        </p:spPr>
        <p:txBody>
          <a:bodyPr wrap="square" lIns="0" tIns="0" rIns="0" bIns="0" rtlCol="0" anchor="t"/>
          <a:lstStyle/>
          <a:p>
            <a:pPr algn="just" indent="0" marL="0">
              <a:lnSpc>
                <a:spcPct val="125000"/>
              </a:lnSpc>
              <a:spcAft>
                <a:spcPts val="1400"/>
              </a:spcAft>
              <a:buNone/>
            </a:pPr>
            <a:r>
              <a:rPr lang="en-US" sz="1300" b="1" dirty="0">
                <a:solidFill>
                  <a:srgbClr val="1E3A5F"/>
                </a:solidFill>
                <a:latin typeface="Noto Sans KR" pitchFamily="34" charset="0"/>
                <a:ea typeface="Noto Sans KR" pitchFamily="34" charset="-122"/>
                <a:cs typeface="Noto Sans KR" pitchFamily="34" charset="-120"/>
              </a:rPr>
              <a:t>장르별 소규모 이벤트</a:t>
            </a:r>
            <a:pPr algn="just" indent="0" marL="0">
              <a:lnSpc>
                <a:spcPct val="125000"/>
              </a:lnSpc>
              <a:spcAft>
                <a:spcPts val="1400"/>
              </a:spcAft>
              <a:buNone/>
            </a:pPr>
            <a:r>
              <a:rPr lang="en-US" sz="1300" dirty="0">
                <a:solidFill>
                  <a:srgbClr val="666666"/>
                </a:solidFill>
                <a:latin typeface="Noto Sans KR" pitchFamily="34" charset="0"/>
                <a:ea typeface="Noto Sans KR" pitchFamily="34" charset="-122"/>
                <a:cs typeface="Noto Sans KR" pitchFamily="34" charset="-120"/>
              </a:rPr>
              <a:t> (Cozy Quest, Steam FPS Fest 등)에서 대형 세일보다 집중 효과가 더 높은 경우가 많다. 같은 비용으로 더 명확한 오디언스에 닿는다.</a:t>
            </a:r>
            <a:endParaRPr lang="en-US" sz="1300" dirty="0"/>
          </a:p>
        </p:txBody>
      </p:sp>
      <p:sp>
        <p:nvSpPr>
          <p:cNvPr id="16" name="Text 13"/>
          <p:cNvSpPr/>
          <p:nvPr/>
        </p:nvSpPr>
        <p:spPr>
          <a:xfrm>
            <a:off x="8046720" y="4777740"/>
            <a:ext cx="822960" cy="228600"/>
          </a:xfrm>
          <a:prstGeom prst="rect">
            <a:avLst/>
          </a:prstGeom>
          <a:noFill/>
          <a:ln/>
        </p:spPr>
        <p:txBody>
          <a:bodyPr wrap="square" lIns="0" tIns="0" rIns="0" bIns="0" rtlCol="0" anchor="ctr"/>
          <a:lstStyle/>
          <a:p>
            <a:pPr algn="r" indent="0" marL="0">
              <a:buNone/>
            </a:pPr>
            <a:r>
              <a:rPr lang="en-US" sz="900" dirty="0">
                <a:solidFill>
                  <a:srgbClr val="999999"/>
                </a:solidFill>
                <a:latin typeface="Consolas" pitchFamily="34" charset="0"/>
                <a:ea typeface="Consolas" pitchFamily="34" charset="-122"/>
                <a:cs typeface="Consolas" pitchFamily="34" charset="-120"/>
              </a:rPr>
              <a:t>11 / 15</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E3A5F"/>
        </a:solidFill>
      </p:bgPr>
    </p:bg>
    <p:spTree>
      <p:nvGrpSpPr>
        <p:cNvPr id="1" name=""/>
        <p:cNvGrpSpPr/>
        <p:nvPr/>
      </p:nvGrpSpPr>
      <p:grpSpPr>
        <a:xfrm>
          <a:off x="0" y="0"/>
          <a:ext cx="0" cy="0"/>
          <a:chOff x="0" y="0"/>
          <a:chExt cx="0" cy="0"/>
        </a:xfrm>
      </p:grpSpPr>
      <p:sp>
        <p:nvSpPr>
          <p:cNvPr id="2" name="Text 0"/>
          <p:cNvSpPr/>
          <p:nvPr/>
        </p:nvSpPr>
        <p:spPr>
          <a:xfrm>
            <a:off x="640080" y="548640"/>
            <a:ext cx="7863840" cy="914400"/>
          </a:xfrm>
          <a:prstGeom prst="rect">
            <a:avLst/>
          </a:prstGeom>
          <a:noFill/>
          <a:ln/>
        </p:spPr>
        <p:txBody>
          <a:bodyPr wrap="square" lIns="0" tIns="0" rIns="0" bIns="0" rtlCol="0" anchor="ctr"/>
          <a:lstStyle/>
          <a:p>
            <a:pPr algn="ctr" indent="0" marL="0">
              <a:buNone/>
            </a:pPr>
            <a:r>
              <a:rPr lang="en-US" sz="8000" dirty="0">
                <a:solidFill>
                  <a:srgbClr val="C8A45C"/>
                </a:solidFill>
                <a:latin typeface="Georgia" pitchFamily="34" charset="0"/>
                <a:ea typeface="Georgia" pitchFamily="34" charset="-122"/>
                <a:cs typeface="Georgia" pitchFamily="34" charset="-120"/>
              </a:rPr>
              <a:t>“</a:t>
            </a:r>
            <a:endParaRPr lang="en-US" sz="8000" dirty="0"/>
          </a:p>
        </p:txBody>
      </p:sp>
      <p:sp>
        <p:nvSpPr>
          <p:cNvPr id="3" name="Text 1"/>
          <p:cNvSpPr/>
          <p:nvPr/>
        </p:nvSpPr>
        <p:spPr>
          <a:xfrm>
            <a:off x="731520" y="1417320"/>
            <a:ext cx="7680960" cy="1463040"/>
          </a:xfrm>
          <a:prstGeom prst="rect">
            <a:avLst/>
          </a:prstGeom>
          <a:noFill/>
          <a:ln/>
        </p:spPr>
        <p:txBody>
          <a:bodyPr wrap="square" lIns="0" tIns="0" rIns="0" bIns="0" rtlCol="0" anchor="ctr"/>
          <a:lstStyle/>
          <a:p>
            <a:pPr algn="ctr" indent="0" marL="0">
              <a:spcAft>
                <a:spcPts val="400"/>
              </a:spcAft>
              <a:buNone/>
            </a:pPr>
            <a:r>
              <a:rPr lang="en-US" sz="2600" i="1" dirty="0">
                <a:solidFill>
                  <a:srgbClr val="FFFFFF"/>
                </a:solidFill>
                <a:latin typeface="Noto Sans KR" pitchFamily="34" charset="0"/>
                <a:ea typeface="Noto Sans KR" pitchFamily="34" charset="-122"/>
                <a:cs typeface="Noto Sans KR" pitchFamily="34" charset="-120"/>
              </a:rPr>
              <a:t>대표 명의 직접 소통이</a:t>
            </a:r>
            <a:endParaRPr lang="en-US" sz="2600" dirty="0"/>
          </a:p>
          <a:p>
            <a:pPr algn="ctr" indent="0" marL="0">
              <a:spcAft>
                <a:spcPts val="400"/>
              </a:spcAft>
              <a:buNone/>
            </a:pPr>
            <a:r>
              <a:rPr lang="en-US" sz="2600" i="1" dirty="0">
                <a:solidFill>
                  <a:srgbClr val="FFFFFF"/>
                </a:solidFill>
                <a:latin typeface="Noto Sans KR" pitchFamily="34" charset="0"/>
                <a:ea typeface="Noto Sans KR" pitchFamily="34" charset="-122"/>
                <a:cs typeface="Noto Sans KR" pitchFamily="34" charset="-120"/>
              </a:rPr>
              <a:t>대행사 멘트보다 신뢰를 만든다.</a:t>
            </a:r>
            <a:endParaRPr lang="en-US" sz="2600" dirty="0"/>
          </a:p>
        </p:txBody>
      </p:sp>
      <p:sp>
        <p:nvSpPr>
          <p:cNvPr id="4" name="Text 2"/>
          <p:cNvSpPr/>
          <p:nvPr/>
        </p:nvSpPr>
        <p:spPr>
          <a:xfrm>
            <a:off x="640080" y="3017520"/>
            <a:ext cx="7863840" cy="365760"/>
          </a:xfrm>
          <a:prstGeom prst="rect">
            <a:avLst/>
          </a:prstGeom>
          <a:noFill/>
          <a:ln/>
        </p:spPr>
        <p:txBody>
          <a:bodyPr wrap="square" lIns="0" tIns="0" rIns="0" bIns="0" rtlCol="0" anchor="ctr"/>
          <a:lstStyle/>
          <a:p>
            <a:pPr algn="ctr" indent="0" marL="0">
              <a:buNone/>
            </a:pPr>
            <a:r>
              <a:rPr lang="en-US" sz="1300" b="1" dirty="0">
                <a:solidFill>
                  <a:srgbClr val="C8A45C"/>
                </a:solidFill>
                <a:latin typeface="Noto Sans KR" pitchFamily="34" charset="0"/>
                <a:ea typeface="Noto Sans KR" pitchFamily="34" charset="-122"/>
                <a:cs typeface="Noto Sans KR" pitchFamily="34" charset="-120"/>
              </a:rPr>
              <a:t>— 커뮤니티 운영 원칙 · 민트로켓 · 데이브 더 다이버</a:t>
            </a:r>
            <a:endParaRPr lang="en-US" sz="1300" dirty="0"/>
          </a:p>
        </p:txBody>
      </p:sp>
      <p:sp>
        <p:nvSpPr>
          <p:cNvPr id="5" name="Text 3"/>
          <p:cNvSpPr/>
          <p:nvPr/>
        </p:nvSpPr>
        <p:spPr>
          <a:xfrm>
            <a:off x="914400" y="3520440"/>
            <a:ext cx="7315200" cy="1371600"/>
          </a:xfrm>
          <a:prstGeom prst="rect">
            <a:avLst/>
          </a:prstGeom>
          <a:noFill/>
          <a:ln/>
        </p:spPr>
        <p:txBody>
          <a:bodyPr wrap="square" lIns="0" tIns="0" rIns="0" bIns="0" rtlCol="0" anchor="t"/>
          <a:lstStyle/>
          <a:p>
            <a:pPr algn="ctr" indent="0" marL="0">
              <a:lnSpc>
                <a:spcPct val="125000"/>
              </a:lnSpc>
              <a:spcAft>
                <a:spcPts val="400"/>
              </a:spcAft>
              <a:buNone/>
            </a:pPr>
            <a:r>
              <a:rPr lang="en-US" sz="1200" dirty="0">
                <a:solidFill>
                  <a:srgbClr val="C8CDD4"/>
                </a:solidFill>
                <a:latin typeface="Noto Sans KR" pitchFamily="34" charset="0"/>
                <a:ea typeface="Noto Sans KR" pitchFamily="34" charset="-122"/>
                <a:cs typeface="Noto Sans KR" pitchFamily="34" charset="-120"/>
              </a:rPr>
              <a:t>Discord에서 개발자가 직접 답변하고, 못 하는 이유·일정·우선순위까지 투명하게 공개한다. Reddit은 비개입 원칙(감동적 사례에만 제한 등장), Steam 커뮤니티는 핵심 이슈에만 개입 — 채널마다 거리감을 다르게 유지한다. 결과적으로 밸브로부터 "커뮤니티 운영이 인상적"이라는 직접 피드백을 받았고, 이는 발매 후 알고리즘 가중치와 큐레이션 노출에도 영향을 미쳤다.</a:t>
            </a:r>
            <a:endParaRPr lang="en-US" sz="1200" dirty="0"/>
          </a:p>
        </p:txBody>
      </p:sp>
      <p:sp>
        <p:nvSpPr>
          <p:cNvPr id="7" name="Text 4"/>
          <p:cNvSpPr/>
          <p:nvPr/>
        </p:nvSpPr>
        <p:spPr>
          <a:xfrm>
            <a:off x="8046720" y="4777740"/>
            <a:ext cx="822960" cy="228600"/>
          </a:xfrm>
          <a:prstGeom prst="rect">
            <a:avLst/>
          </a:prstGeom>
          <a:noFill/>
          <a:ln/>
        </p:spPr>
        <p:txBody>
          <a:bodyPr wrap="square" lIns="0" tIns="0" rIns="0" bIns="0" rtlCol="0" anchor="ctr"/>
          <a:lstStyle/>
          <a:p>
            <a:pPr algn="r" indent="0" marL="0">
              <a:buNone/>
            </a:pPr>
            <a:r>
              <a:rPr lang="en-US" sz="900" dirty="0">
                <a:solidFill>
                  <a:srgbClr val="999999"/>
                </a:solidFill>
                <a:latin typeface="Consolas" pitchFamily="34" charset="0"/>
                <a:ea typeface="Consolas" pitchFamily="34" charset="-122"/>
                <a:cs typeface="Consolas" pitchFamily="34" charset="-120"/>
              </a:rPr>
              <a:t>12 / 15</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7863840" cy="457200"/>
          </a:xfrm>
          <a:prstGeom prst="rect">
            <a:avLst/>
          </a:prstGeom>
          <a:noFill/>
          <a:ln/>
        </p:spPr>
        <p:txBody>
          <a:bodyPr wrap="square" lIns="0" tIns="0" rIns="0" bIns="0" rtlCol="0" anchor="t"/>
          <a:lstStyle/>
          <a:p>
            <a:pPr algn="l" indent="0" marL="0">
              <a:buNone/>
            </a:pPr>
            <a:r>
              <a:rPr lang="en-US" sz="2600" b="1" dirty="0">
                <a:solidFill>
                  <a:srgbClr val="1E3A5F"/>
                </a:solidFill>
                <a:latin typeface="Noto Sans KR" pitchFamily="34" charset="0"/>
                <a:ea typeface="Noto Sans KR" pitchFamily="34" charset="-122"/>
                <a:cs typeface="Noto Sans KR" pitchFamily="34" charset="-120"/>
              </a:rPr>
              <a:t>아시아 스튜디오의 세 가지 사각지대</a:t>
            </a:r>
            <a:endParaRPr lang="en-US" sz="2600" dirty="0"/>
          </a:p>
        </p:txBody>
      </p:sp>
      <p:sp>
        <p:nvSpPr>
          <p:cNvPr id="3" name="Shape 1"/>
          <p:cNvSpPr/>
          <p:nvPr/>
        </p:nvSpPr>
        <p:spPr>
          <a:xfrm>
            <a:off x="640080" y="886968"/>
            <a:ext cx="658368" cy="22860"/>
          </a:xfrm>
          <a:prstGeom prst="rect">
            <a:avLst/>
          </a:prstGeom>
          <a:solidFill>
            <a:srgbClr val="C8A45C"/>
          </a:solidFill>
          <a:ln w="12700">
            <a:solidFill>
              <a:srgbClr val="C8A45C"/>
            </a:solidFill>
            <a:prstDash val="solid"/>
          </a:ln>
        </p:spPr>
      </p:sp>
      <p:sp>
        <p:nvSpPr>
          <p:cNvPr id="4" name="Text 2"/>
          <p:cNvSpPr/>
          <p:nvPr/>
        </p:nvSpPr>
        <p:spPr>
          <a:xfrm>
            <a:off x="914400" y="1325880"/>
            <a:ext cx="7315200" cy="777240"/>
          </a:xfrm>
          <a:prstGeom prst="rect">
            <a:avLst/>
          </a:prstGeom>
          <a:noFill/>
          <a:ln/>
        </p:spPr>
        <p:txBody>
          <a:bodyPr wrap="square" lIns="0" tIns="0" rIns="0" bIns="0" rtlCol="0" anchor="t"/>
          <a:lstStyle/>
          <a:p>
            <a:pPr algn="ctr" indent="0" marL="0">
              <a:spcAft>
                <a:spcPts val="400"/>
              </a:spcAft>
              <a:buNone/>
            </a:pPr>
            <a:r>
              <a:rPr lang="en-US" sz="1300" dirty="0">
                <a:solidFill>
                  <a:srgbClr val="666666"/>
                </a:solidFill>
                <a:latin typeface="Noto Sans KR" pitchFamily="34" charset="0"/>
                <a:ea typeface="Noto Sans KR" pitchFamily="34" charset="-122"/>
                <a:cs typeface="Noto Sans KR" pitchFamily="34" charset="-120"/>
              </a:rPr>
              <a:t>Airbridge × Liquid Advertising 보고서가 짚은 패턴. 모바일 마케팅 문법에 익숙한 아시아 스튜디오가 PC·콘솔에서 일관되게 놓치는 세 채널이다.</a:t>
            </a:r>
            <a:endParaRPr lang="en-US" sz="1300" dirty="0"/>
          </a:p>
        </p:txBody>
      </p:sp>
      <p:sp>
        <p:nvSpPr>
          <p:cNvPr id="5" name="Shape 3"/>
          <p:cNvSpPr/>
          <p:nvPr/>
        </p:nvSpPr>
        <p:spPr>
          <a:xfrm>
            <a:off x="640080" y="2194560"/>
            <a:ext cx="2487168" cy="2446020"/>
          </a:xfrm>
          <a:prstGeom prst="rect">
            <a:avLst/>
          </a:prstGeom>
          <a:solidFill>
            <a:srgbClr val="F4F5F7"/>
          </a:solidFill>
          <a:ln w="9525">
            <a:solidFill>
              <a:srgbClr val="E0E3E8"/>
            </a:solidFill>
            <a:prstDash val="solid"/>
          </a:ln>
        </p:spPr>
      </p:sp>
      <p:sp>
        <p:nvSpPr>
          <p:cNvPr id="6" name="Shape 4"/>
          <p:cNvSpPr/>
          <p:nvPr/>
        </p:nvSpPr>
        <p:spPr>
          <a:xfrm>
            <a:off x="640080" y="2194560"/>
            <a:ext cx="2487168" cy="54864"/>
          </a:xfrm>
          <a:prstGeom prst="rect">
            <a:avLst/>
          </a:prstGeom>
          <a:solidFill>
            <a:srgbClr val="1E3A5F"/>
          </a:solidFill>
          <a:ln w="12700">
            <a:solidFill>
              <a:srgbClr val="1E3A5F"/>
            </a:solidFill>
            <a:prstDash val="solid"/>
          </a:ln>
        </p:spPr>
      </p:sp>
      <p:sp>
        <p:nvSpPr>
          <p:cNvPr id="7" name="Text 5"/>
          <p:cNvSpPr/>
          <p:nvPr/>
        </p:nvSpPr>
        <p:spPr>
          <a:xfrm>
            <a:off x="868680" y="2377440"/>
            <a:ext cx="2029968" cy="365760"/>
          </a:xfrm>
          <a:prstGeom prst="rect">
            <a:avLst/>
          </a:prstGeom>
          <a:noFill/>
          <a:ln/>
        </p:spPr>
        <p:txBody>
          <a:bodyPr wrap="square" lIns="0" tIns="0" rIns="0" bIns="0" rtlCol="0" anchor="t"/>
          <a:lstStyle/>
          <a:p>
            <a:pPr indent="0" marL="0">
              <a:buNone/>
            </a:pPr>
            <a:r>
              <a:rPr lang="en-US" sz="1600" b="1" dirty="0">
                <a:solidFill>
                  <a:srgbClr val="1E3A5F"/>
                </a:solidFill>
                <a:latin typeface="Noto Sans KR" pitchFamily="34" charset="0"/>
                <a:ea typeface="Noto Sans KR" pitchFamily="34" charset="-122"/>
                <a:cs typeface="Noto Sans KR" pitchFamily="34" charset="-120"/>
              </a:rPr>
              <a:t>커뮤니티 운영</a:t>
            </a:r>
            <a:endParaRPr lang="en-US" sz="1600" dirty="0"/>
          </a:p>
        </p:txBody>
      </p:sp>
      <p:sp>
        <p:nvSpPr>
          <p:cNvPr id="8" name="Text 6"/>
          <p:cNvSpPr/>
          <p:nvPr/>
        </p:nvSpPr>
        <p:spPr>
          <a:xfrm>
            <a:off x="868680" y="2834640"/>
            <a:ext cx="2029968" cy="1165860"/>
          </a:xfrm>
          <a:prstGeom prst="rect">
            <a:avLst/>
          </a:prstGeom>
          <a:noFill/>
          <a:ln/>
        </p:spPr>
        <p:txBody>
          <a:bodyPr wrap="square" lIns="0" tIns="0" rIns="0" bIns="0" rtlCol="0" anchor="t"/>
          <a:lstStyle/>
          <a:p>
            <a:pPr algn="just" indent="0" marL="0">
              <a:lnSpc>
                <a:spcPct val="115000"/>
              </a:lnSpc>
              <a:spcAft>
                <a:spcPts val="200"/>
              </a:spcAft>
              <a:buNone/>
            </a:pPr>
            <a:r>
              <a:rPr lang="en-US" sz="1100" dirty="0">
                <a:solidFill>
                  <a:srgbClr val="666666"/>
                </a:solidFill>
                <a:latin typeface="Noto Sans KR" pitchFamily="34" charset="0"/>
                <a:ea typeface="Noto Sans KR" pitchFamily="34" charset="-122"/>
                <a:cs typeface="Noto Sans KR" pitchFamily="34" charset="-120"/>
              </a:rPr>
              <a:t>Discord·Reddit에 채널을 만든 것과 의미 있게 존재감을 드러내는 것은 완전히 다르다. 답변 속도, 톤의 일관성, 개발자의 직접 등장 빈도가 누적 신뢰를 만든다. 채널 개설은 시작점일 뿐, 마케팅 채널이 되려면 운영이 필요하다.</a:t>
            </a:r>
            <a:endParaRPr lang="en-US" sz="1100" dirty="0"/>
          </a:p>
        </p:txBody>
      </p:sp>
      <p:sp>
        <p:nvSpPr>
          <p:cNvPr id="9" name="Text 7"/>
          <p:cNvSpPr/>
          <p:nvPr/>
        </p:nvSpPr>
        <p:spPr>
          <a:xfrm>
            <a:off x="868680" y="4137660"/>
            <a:ext cx="2029968" cy="292608"/>
          </a:xfrm>
          <a:prstGeom prst="rect">
            <a:avLst/>
          </a:prstGeom>
          <a:noFill/>
          <a:ln/>
        </p:spPr>
        <p:txBody>
          <a:bodyPr wrap="square" lIns="0" tIns="0" rIns="0" bIns="0" rtlCol="0" anchor="ctr"/>
          <a:lstStyle/>
          <a:p>
            <a:pPr indent="0" marL="0">
              <a:buNone/>
            </a:pPr>
            <a:r>
              <a:rPr lang="en-US" sz="1000" b="1" dirty="0">
                <a:solidFill>
                  <a:srgbClr val="C8A45C"/>
                </a:solidFill>
                <a:latin typeface="Consolas" pitchFamily="34" charset="0"/>
                <a:ea typeface="Consolas" pitchFamily="34" charset="-122"/>
                <a:cs typeface="Consolas" pitchFamily="34" charset="-120"/>
              </a:rPr>
              <a:t>Discord · Reddit</a:t>
            </a:r>
            <a:endParaRPr lang="en-US" sz="1000" dirty="0"/>
          </a:p>
        </p:txBody>
      </p:sp>
      <p:sp>
        <p:nvSpPr>
          <p:cNvPr id="10" name="Shape 8"/>
          <p:cNvSpPr/>
          <p:nvPr/>
        </p:nvSpPr>
        <p:spPr>
          <a:xfrm>
            <a:off x="3328416" y="2194560"/>
            <a:ext cx="2487168" cy="2446020"/>
          </a:xfrm>
          <a:prstGeom prst="rect">
            <a:avLst/>
          </a:prstGeom>
          <a:solidFill>
            <a:srgbClr val="F4F5F7"/>
          </a:solidFill>
          <a:ln w="9525">
            <a:solidFill>
              <a:srgbClr val="E0E3E8"/>
            </a:solidFill>
            <a:prstDash val="solid"/>
          </a:ln>
        </p:spPr>
      </p:sp>
      <p:sp>
        <p:nvSpPr>
          <p:cNvPr id="11" name="Shape 9"/>
          <p:cNvSpPr/>
          <p:nvPr/>
        </p:nvSpPr>
        <p:spPr>
          <a:xfrm>
            <a:off x="3328416" y="2194560"/>
            <a:ext cx="2487168" cy="54864"/>
          </a:xfrm>
          <a:prstGeom prst="rect">
            <a:avLst/>
          </a:prstGeom>
          <a:solidFill>
            <a:srgbClr val="1E3A5F"/>
          </a:solidFill>
          <a:ln w="12700">
            <a:solidFill>
              <a:srgbClr val="1E3A5F"/>
            </a:solidFill>
            <a:prstDash val="solid"/>
          </a:ln>
        </p:spPr>
      </p:sp>
      <p:sp>
        <p:nvSpPr>
          <p:cNvPr id="12" name="Text 10"/>
          <p:cNvSpPr/>
          <p:nvPr/>
        </p:nvSpPr>
        <p:spPr>
          <a:xfrm>
            <a:off x="3557016" y="2377440"/>
            <a:ext cx="2029968" cy="365760"/>
          </a:xfrm>
          <a:prstGeom prst="rect">
            <a:avLst/>
          </a:prstGeom>
          <a:noFill/>
          <a:ln/>
        </p:spPr>
        <p:txBody>
          <a:bodyPr wrap="square" lIns="0" tIns="0" rIns="0" bIns="0" rtlCol="0" anchor="t"/>
          <a:lstStyle/>
          <a:p>
            <a:pPr indent="0" marL="0">
              <a:buNone/>
            </a:pPr>
            <a:r>
              <a:rPr lang="en-US" sz="1600" b="1" dirty="0">
                <a:solidFill>
                  <a:srgbClr val="1E3A5F"/>
                </a:solidFill>
                <a:latin typeface="Noto Sans KR" pitchFamily="34" charset="0"/>
                <a:ea typeface="Noto Sans KR" pitchFamily="34" charset="-122"/>
                <a:cs typeface="Noto Sans KR" pitchFamily="34" charset="-120"/>
              </a:rPr>
              <a:t>하이터치 프로그래매틱</a:t>
            </a:r>
            <a:endParaRPr lang="en-US" sz="1600" dirty="0"/>
          </a:p>
        </p:txBody>
      </p:sp>
      <p:sp>
        <p:nvSpPr>
          <p:cNvPr id="13" name="Text 11"/>
          <p:cNvSpPr/>
          <p:nvPr/>
        </p:nvSpPr>
        <p:spPr>
          <a:xfrm>
            <a:off x="3557016" y="2834640"/>
            <a:ext cx="2029968" cy="1165860"/>
          </a:xfrm>
          <a:prstGeom prst="rect">
            <a:avLst/>
          </a:prstGeom>
          <a:noFill/>
          <a:ln/>
        </p:spPr>
        <p:txBody>
          <a:bodyPr wrap="square" lIns="0" tIns="0" rIns="0" bIns="0" rtlCol="0" anchor="t"/>
          <a:lstStyle/>
          <a:p>
            <a:pPr algn="just" indent="0" marL="0">
              <a:lnSpc>
                <a:spcPct val="115000"/>
              </a:lnSpc>
              <a:spcAft>
                <a:spcPts val="200"/>
              </a:spcAft>
              <a:buNone/>
            </a:pPr>
            <a:r>
              <a:rPr lang="en-US" sz="1100" dirty="0">
                <a:solidFill>
                  <a:srgbClr val="666666"/>
                </a:solidFill>
                <a:latin typeface="Noto Sans KR" pitchFamily="34" charset="0"/>
                <a:ea typeface="Noto Sans KR" pitchFamily="34" charset="-122"/>
                <a:cs typeface="Noto Sans KR" pitchFamily="34" charset="-120"/>
              </a:rPr>
              <a:t>클릭(상위 퍼널)만 보지 말 것. 노출 순서·빈도·오디언스 타겟팅으로 전체 퍼널을 연결해 설계해야 한다. PC·콘솔 유저는 충동 설치가 없고 리뷰·트레일러·비교를 거쳐 구매하므로, 발견의 순간을 여러 접점에 분산 배치해야 한다.</a:t>
            </a:r>
            <a:endParaRPr lang="en-US" sz="1100" dirty="0"/>
          </a:p>
        </p:txBody>
      </p:sp>
      <p:sp>
        <p:nvSpPr>
          <p:cNvPr id="14" name="Text 12"/>
          <p:cNvSpPr/>
          <p:nvPr/>
        </p:nvSpPr>
        <p:spPr>
          <a:xfrm>
            <a:off x="3557016" y="4137660"/>
            <a:ext cx="2029968" cy="292608"/>
          </a:xfrm>
          <a:prstGeom prst="rect">
            <a:avLst/>
          </a:prstGeom>
          <a:noFill/>
          <a:ln/>
        </p:spPr>
        <p:txBody>
          <a:bodyPr wrap="square" lIns="0" tIns="0" rIns="0" bIns="0" rtlCol="0" anchor="ctr"/>
          <a:lstStyle/>
          <a:p>
            <a:pPr indent="0" marL="0">
              <a:buNone/>
            </a:pPr>
            <a:r>
              <a:rPr lang="en-US" sz="1000" b="1" dirty="0">
                <a:solidFill>
                  <a:srgbClr val="C8A45C"/>
                </a:solidFill>
                <a:latin typeface="Consolas" pitchFamily="34" charset="0"/>
                <a:ea typeface="Consolas" pitchFamily="34" charset="-122"/>
                <a:cs typeface="Consolas" pitchFamily="34" charset="-120"/>
              </a:rPr>
              <a:t>전체 퍼널 연결</a:t>
            </a:r>
            <a:endParaRPr lang="en-US" sz="1000" dirty="0"/>
          </a:p>
        </p:txBody>
      </p:sp>
      <p:sp>
        <p:nvSpPr>
          <p:cNvPr id="15" name="Shape 13"/>
          <p:cNvSpPr/>
          <p:nvPr/>
        </p:nvSpPr>
        <p:spPr>
          <a:xfrm>
            <a:off x="6016752" y="2194560"/>
            <a:ext cx="2487168" cy="2446020"/>
          </a:xfrm>
          <a:prstGeom prst="rect">
            <a:avLst/>
          </a:prstGeom>
          <a:solidFill>
            <a:srgbClr val="F4F5F7"/>
          </a:solidFill>
          <a:ln w="9525">
            <a:solidFill>
              <a:srgbClr val="E0E3E8"/>
            </a:solidFill>
            <a:prstDash val="solid"/>
          </a:ln>
        </p:spPr>
      </p:sp>
      <p:sp>
        <p:nvSpPr>
          <p:cNvPr id="16" name="Shape 14"/>
          <p:cNvSpPr/>
          <p:nvPr/>
        </p:nvSpPr>
        <p:spPr>
          <a:xfrm>
            <a:off x="6016752" y="2194560"/>
            <a:ext cx="2487168" cy="54864"/>
          </a:xfrm>
          <a:prstGeom prst="rect">
            <a:avLst/>
          </a:prstGeom>
          <a:solidFill>
            <a:srgbClr val="1E3A5F"/>
          </a:solidFill>
          <a:ln w="12700">
            <a:solidFill>
              <a:srgbClr val="1E3A5F"/>
            </a:solidFill>
            <a:prstDash val="solid"/>
          </a:ln>
        </p:spPr>
      </p:sp>
      <p:sp>
        <p:nvSpPr>
          <p:cNvPr id="17" name="Text 15"/>
          <p:cNvSpPr/>
          <p:nvPr/>
        </p:nvSpPr>
        <p:spPr>
          <a:xfrm>
            <a:off x="6245352" y="2377440"/>
            <a:ext cx="2029968" cy="365760"/>
          </a:xfrm>
          <a:prstGeom prst="rect">
            <a:avLst/>
          </a:prstGeom>
          <a:noFill/>
          <a:ln/>
        </p:spPr>
        <p:txBody>
          <a:bodyPr wrap="square" lIns="0" tIns="0" rIns="0" bIns="0" rtlCol="0" anchor="t"/>
          <a:lstStyle/>
          <a:p>
            <a:pPr indent="0" marL="0">
              <a:buNone/>
            </a:pPr>
            <a:r>
              <a:rPr lang="en-US" sz="1600" b="1" dirty="0">
                <a:solidFill>
                  <a:srgbClr val="1E3A5F"/>
                </a:solidFill>
                <a:latin typeface="Noto Sans KR" pitchFamily="34" charset="0"/>
                <a:ea typeface="Noto Sans KR" pitchFamily="34" charset="-122"/>
                <a:cs typeface="Noto Sans KR" pitchFamily="34" charset="-120"/>
              </a:rPr>
              <a:t>OTT · CTV</a:t>
            </a:r>
            <a:endParaRPr lang="en-US" sz="1600" dirty="0"/>
          </a:p>
        </p:txBody>
      </p:sp>
      <p:sp>
        <p:nvSpPr>
          <p:cNvPr id="18" name="Text 16"/>
          <p:cNvSpPr/>
          <p:nvPr/>
        </p:nvSpPr>
        <p:spPr>
          <a:xfrm>
            <a:off x="6245352" y="2834640"/>
            <a:ext cx="2029968" cy="1165860"/>
          </a:xfrm>
          <a:prstGeom prst="rect">
            <a:avLst/>
          </a:prstGeom>
          <a:noFill/>
          <a:ln/>
        </p:spPr>
        <p:txBody>
          <a:bodyPr wrap="square" lIns="0" tIns="0" rIns="0" bIns="0" rtlCol="0" anchor="t"/>
          <a:lstStyle/>
          <a:p>
            <a:pPr algn="just" indent="0" marL="0">
              <a:lnSpc>
                <a:spcPct val="115000"/>
              </a:lnSpc>
              <a:spcAft>
                <a:spcPts val="200"/>
              </a:spcAft>
              <a:buNone/>
            </a:pPr>
            <a:r>
              <a:rPr lang="en-US" sz="1100" dirty="0">
                <a:solidFill>
                  <a:srgbClr val="666666"/>
                </a:solidFill>
                <a:latin typeface="Noto Sans KR" pitchFamily="34" charset="0"/>
                <a:ea typeface="Noto Sans KR" pitchFamily="34" charset="-122"/>
                <a:cs typeface="Noto Sans KR" pitchFamily="34" charset="-120"/>
              </a:rPr>
              <a:t>미국·유럽에서 OTT/CTV는 더 이상 틈새가 아니다. 삼성·LG·Vizio TV에서 광고 시청과 실제 플레이를 추적할 수 있고, ROAS 측정도 가능하다. 브랜딩과 퍼포먼스의 경계가 무너지는 채널.</a:t>
            </a:r>
            <a:endParaRPr lang="en-US" sz="1100" dirty="0"/>
          </a:p>
        </p:txBody>
      </p:sp>
      <p:sp>
        <p:nvSpPr>
          <p:cNvPr id="19" name="Text 17"/>
          <p:cNvSpPr/>
          <p:nvPr/>
        </p:nvSpPr>
        <p:spPr>
          <a:xfrm>
            <a:off x="6245352" y="4137660"/>
            <a:ext cx="2029968" cy="292608"/>
          </a:xfrm>
          <a:prstGeom prst="rect">
            <a:avLst/>
          </a:prstGeom>
          <a:noFill/>
          <a:ln/>
        </p:spPr>
        <p:txBody>
          <a:bodyPr wrap="square" lIns="0" tIns="0" rIns="0" bIns="0" rtlCol="0" anchor="ctr"/>
          <a:lstStyle/>
          <a:p>
            <a:pPr indent="0" marL="0">
              <a:buNone/>
            </a:pPr>
            <a:r>
              <a:rPr lang="en-US" sz="1000" b="1" dirty="0">
                <a:solidFill>
                  <a:srgbClr val="C8A45C"/>
                </a:solidFill>
                <a:latin typeface="Consolas" pitchFamily="34" charset="0"/>
                <a:ea typeface="Consolas" pitchFamily="34" charset="-122"/>
                <a:cs typeface="Consolas" pitchFamily="34" charset="-120"/>
              </a:rPr>
              <a:t>측정 가능한 브랜딩</a:t>
            </a:r>
            <a:endParaRPr lang="en-US" sz="1000" dirty="0"/>
          </a:p>
        </p:txBody>
      </p:sp>
      <p:sp>
        <p:nvSpPr>
          <p:cNvPr id="21" name="Text 18"/>
          <p:cNvSpPr/>
          <p:nvPr/>
        </p:nvSpPr>
        <p:spPr>
          <a:xfrm>
            <a:off x="8046720" y="4777740"/>
            <a:ext cx="822960" cy="228600"/>
          </a:xfrm>
          <a:prstGeom prst="rect">
            <a:avLst/>
          </a:prstGeom>
          <a:noFill/>
          <a:ln/>
        </p:spPr>
        <p:txBody>
          <a:bodyPr wrap="square" lIns="0" tIns="0" rIns="0" bIns="0" rtlCol="0" anchor="ctr"/>
          <a:lstStyle/>
          <a:p>
            <a:pPr algn="r" indent="0" marL="0">
              <a:buNone/>
            </a:pPr>
            <a:r>
              <a:rPr lang="en-US" sz="900" dirty="0">
                <a:solidFill>
                  <a:srgbClr val="999999"/>
                </a:solidFill>
                <a:latin typeface="Consolas" pitchFamily="34" charset="0"/>
                <a:ea typeface="Consolas" pitchFamily="34" charset="-122"/>
                <a:cs typeface="Consolas" pitchFamily="34" charset="-120"/>
              </a:rPr>
              <a:t>13 / 15</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7863840" cy="457200"/>
          </a:xfrm>
          <a:prstGeom prst="rect">
            <a:avLst/>
          </a:prstGeom>
          <a:noFill/>
          <a:ln/>
        </p:spPr>
        <p:txBody>
          <a:bodyPr wrap="square" lIns="0" tIns="0" rIns="0" bIns="0" rtlCol="0" anchor="t"/>
          <a:lstStyle/>
          <a:p>
            <a:pPr algn="l" indent="0" marL="0">
              <a:buNone/>
            </a:pPr>
            <a:r>
              <a:rPr lang="en-US" sz="2600" b="1" dirty="0">
                <a:solidFill>
                  <a:srgbClr val="1E3A5F"/>
                </a:solidFill>
                <a:latin typeface="Noto Sans KR" pitchFamily="34" charset="0"/>
                <a:ea typeface="Noto Sans KR" pitchFamily="34" charset="-122"/>
                <a:cs typeface="Noto Sans KR" pitchFamily="34" charset="-120"/>
              </a:rPr>
              <a:t>여섯 가지 원칙</a:t>
            </a:r>
            <a:endParaRPr lang="en-US" sz="2600" dirty="0"/>
          </a:p>
        </p:txBody>
      </p:sp>
      <p:sp>
        <p:nvSpPr>
          <p:cNvPr id="3" name="Shape 1"/>
          <p:cNvSpPr/>
          <p:nvPr/>
        </p:nvSpPr>
        <p:spPr>
          <a:xfrm>
            <a:off x="640080" y="886968"/>
            <a:ext cx="658368" cy="22860"/>
          </a:xfrm>
          <a:prstGeom prst="rect">
            <a:avLst/>
          </a:prstGeom>
          <a:solidFill>
            <a:srgbClr val="C8A45C"/>
          </a:solidFill>
          <a:ln w="12700">
            <a:solidFill>
              <a:srgbClr val="C8A45C"/>
            </a:solidFill>
            <a:prstDash val="solid"/>
          </a:ln>
        </p:spPr>
      </p:sp>
      <p:sp>
        <p:nvSpPr>
          <p:cNvPr id="4" name="Shape 2"/>
          <p:cNvSpPr/>
          <p:nvPr/>
        </p:nvSpPr>
        <p:spPr>
          <a:xfrm>
            <a:off x="731520" y="1399032"/>
            <a:ext cx="109728" cy="109728"/>
          </a:xfrm>
          <a:prstGeom prst="rect">
            <a:avLst/>
          </a:prstGeom>
          <a:solidFill>
            <a:srgbClr val="C8A45C"/>
          </a:solidFill>
          <a:ln w="12700">
            <a:solidFill>
              <a:srgbClr val="C8A45C"/>
            </a:solidFill>
            <a:prstDash val="solid"/>
          </a:ln>
        </p:spPr>
      </p:sp>
      <p:sp>
        <p:nvSpPr>
          <p:cNvPr id="5" name="Text 3"/>
          <p:cNvSpPr/>
          <p:nvPr/>
        </p:nvSpPr>
        <p:spPr>
          <a:xfrm>
            <a:off x="1005840" y="1280160"/>
            <a:ext cx="7406640" cy="407670"/>
          </a:xfrm>
          <a:prstGeom prst="rect">
            <a:avLst/>
          </a:prstGeom>
          <a:noFill/>
          <a:ln/>
        </p:spPr>
        <p:txBody>
          <a:bodyPr wrap="square" lIns="0" tIns="0" rIns="0" bIns="0" rtlCol="0" anchor="t"/>
          <a:lstStyle/>
          <a:p>
            <a:pPr algn="just" indent="0" marL="0">
              <a:lnSpc>
                <a:spcPct val="125000"/>
              </a:lnSpc>
              <a:spcAft>
                <a:spcPts val="1400"/>
              </a:spcAft>
              <a:buNone/>
            </a:pPr>
            <a:r>
              <a:rPr lang="en-US" sz="1300" b="1" dirty="0">
                <a:solidFill>
                  <a:srgbClr val="1E3A5F"/>
                </a:solidFill>
                <a:latin typeface="Noto Sans KR" pitchFamily="34" charset="0"/>
                <a:ea typeface="Noto Sans KR" pitchFamily="34" charset="-122"/>
                <a:cs typeface="Noto Sans KR" pitchFamily="34" charset="-120"/>
              </a:rPr>
              <a:t>가격은 포지셔닝 선언</a:t>
            </a:r>
            <a:pPr algn="just" indent="0" marL="0">
              <a:lnSpc>
                <a:spcPct val="125000"/>
              </a:lnSpc>
              <a:spcAft>
                <a:spcPts val="1400"/>
              </a:spcAft>
              <a:buNone/>
            </a:pPr>
            <a:r>
              <a:rPr lang="en-US" sz="1300" dirty="0">
                <a:solidFill>
                  <a:srgbClr val="666666"/>
                </a:solidFill>
                <a:latin typeface="Noto Sans KR" pitchFamily="34" charset="0"/>
                <a:ea typeface="Noto Sans KR" pitchFamily="34" charset="-122"/>
                <a:cs typeface="Noto Sans KR" pitchFamily="34" charset="-120"/>
              </a:rPr>
              <a:t> — 장르 평균 이탈 금지. $30~50 미드 프라이스가 새 스위트 스팟이고, 비즈니스 모델 자체가 게임플레이 루프를 규정한다.</a:t>
            </a:r>
            <a:endParaRPr lang="en-US" sz="1300" dirty="0"/>
          </a:p>
        </p:txBody>
      </p:sp>
      <p:sp>
        <p:nvSpPr>
          <p:cNvPr id="6" name="Shape 4"/>
          <p:cNvSpPr/>
          <p:nvPr/>
        </p:nvSpPr>
        <p:spPr>
          <a:xfrm>
            <a:off x="731520" y="1989582"/>
            <a:ext cx="109728" cy="109728"/>
          </a:xfrm>
          <a:prstGeom prst="rect">
            <a:avLst/>
          </a:prstGeom>
          <a:solidFill>
            <a:srgbClr val="C8A45C"/>
          </a:solidFill>
          <a:ln w="12700">
            <a:solidFill>
              <a:srgbClr val="C8A45C"/>
            </a:solidFill>
            <a:prstDash val="solid"/>
          </a:ln>
        </p:spPr>
      </p:sp>
      <p:sp>
        <p:nvSpPr>
          <p:cNvPr id="7" name="Text 5"/>
          <p:cNvSpPr/>
          <p:nvPr/>
        </p:nvSpPr>
        <p:spPr>
          <a:xfrm>
            <a:off x="1005840" y="1870710"/>
            <a:ext cx="7406640" cy="407670"/>
          </a:xfrm>
          <a:prstGeom prst="rect">
            <a:avLst/>
          </a:prstGeom>
          <a:noFill/>
          <a:ln/>
        </p:spPr>
        <p:txBody>
          <a:bodyPr wrap="square" lIns="0" tIns="0" rIns="0" bIns="0" rtlCol="0" anchor="t"/>
          <a:lstStyle/>
          <a:p>
            <a:pPr algn="just" indent="0" marL="0">
              <a:lnSpc>
                <a:spcPct val="125000"/>
              </a:lnSpc>
              <a:spcAft>
                <a:spcPts val="1400"/>
              </a:spcAft>
              <a:buNone/>
            </a:pPr>
            <a:r>
              <a:rPr lang="en-US" sz="1300" b="1" dirty="0">
                <a:solidFill>
                  <a:srgbClr val="1E3A5F"/>
                </a:solidFill>
                <a:latin typeface="Noto Sans KR" pitchFamily="34" charset="0"/>
                <a:ea typeface="Noto Sans KR" pitchFamily="34" charset="-122"/>
                <a:cs typeface="Noto Sans KR" pitchFamily="34" charset="-120"/>
              </a:rPr>
              <a:t>위시리스트는 양보다 질</a:t>
            </a:r>
            <a:pPr algn="just" indent="0" marL="0">
              <a:lnSpc>
                <a:spcPct val="125000"/>
              </a:lnSpc>
              <a:spcAft>
                <a:spcPts val="1400"/>
              </a:spcAft>
              <a:buNone/>
            </a:pPr>
            <a:r>
              <a:rPr lang="en-US" sz="1300" dirty="0">
                <a:solidFill>
                  <a:srgbClr val="666666"/>
                </a:solidFill>
                <a:latin typeface="Noto Sans KR" pitchFamily="34" charset="0"/>
                <a:ea typeface="Noto Sans KR" pitchFamily="34" charset="-122"/>
                <a:cs typeface="Noto Sans KR" pitchFamily="34" charset="-120"/>
              </a:rPr>
              <a:t> — 자발적 70% 이상, 모멘텀이 절대 수치보다 중요. 이벤트 보상 위시리스트는 출시 전환율 함정이다.</a:t>
            </a:r>
            <a:endParaRPr lang="en-US" sz="1300" dirty="0"/>
          </a:p>
        </p:txBody>
      </p:sp>
      <p:sp>
        <p:nvSpPr>
          <p:cNvPr id="8" name="Shape 6"/>
          <p:cNvSpPr/>
          <p:nvPr/>
        </p:nvSpPr>
        <p:spPr>
          <a:xfrm>
            <a:off x="731520" y="2580132"/>
            <a:ext cx="109728" cy="109728"/>
          </a:xfrm>
          <a:prstGeom prst="rect">
            <a:avLst/>
          </a:prstGeom>
          <a:solidFill>
            <a:srgbClr val="C8A45C"/>
          </a:solidFill>
          <a:ln w="12700">
            <a:solidFill>
              <a:srgbClr val="C8A45C"/>
            </a:solidFill>
            <a:prstDash val="solid"/>
          </a:ln>
        </p:spPr>
      </p:sp>
      <p:sp>
        <p:nvSpPr>
          <p:cNvPr id="9" name="Text 7"/>
          <p:cNvSpPr/>
          <p:nvPr/>
        </p:nvSpPr>
        <p:spPr>
          <a:xfrm>
            <a:off x="1005840" y="2461260"/>
            <a:ext cx="7406640" cy="407670"/>
          </a:xfrm>
          <a:prstGeom prst="rect">
            <a:avLst/>
          </a:prstGeom>
          <a:noFill/>
          <a:ln/>
        </p:spPr>
        <p:txBody>
          <a:bodyPr wrap="square" lIns="0" tIns="0" rIns="0" bIns="0" rtlCol="0" anchor="t"/>
          <a:lstStyle/>
          <a:p>
            <a:pPr algn="just" indent="0" marL="0">
              <a:lnSpc>
                <a:spcPct val="125000"/>
              </a:lnSpc>
              <a:spcAft>
                <a:spcPts val="1400"/>
              </a:spcAft>
              <a:buNone/>
            </a:pPr>
            <a:r>
              <a:rPr lang="en-US" sz="1300" b="1" dirty="0">
                <a:solidFill>
                  <a:srgbClr val="1E3A5F"/>
                </a:solidFill>
                <a:latin typeface="Noto Sans KR" pitchFamily="34" charset="0"/>
                <a:ea typeface="Noto Sans KR" pitchFamily="34" charset="-122"/>
                <a:cs typeface="Noto Sans KR" pitchFamily="34" charset="-120"/>
              </a:rPr>
              <a:t>모든 마케팅은 데모에 비하면 미미하다</a:t>
            </a:r>
            <a:pPr algn="just" indent="0" marL="0">
              <a:lnSpc>
                <a:spcPct val="125000"/>
              </a:lnSpc>
              <a:spcAft>
                <a:spcPts val="1400"/>
              </a:spcAft>
              <a:buNone/>
            </a:pPr>
            <a:r>
              <a:rPr lang="en-US" sz="1300" dirty="0">
                <a:solidFill>
                  <a:srgbClr val="666666"/>
                </a:solidFill>
                <a:latin typeface="Noto Sans KR" pitchFamily="34" charset="0"/>
                <a:ea typeface="Noto Sans KR" pitchFamily="34" charset="-122"/>
                <a:cs typeface="Noto Sans KR" pitchFamily="34" charset="-120"/>
              </a:rPr>
              <a:t> — 데모를 1개월 이상 사전 공개해 코어 오디언스를 누적하라. 넥스트 페스트는 시작이 아니라 그랜드 피날레다.</a:t>
            </a:r>
            <a:endParaRPr lang="en-US" sz="1300" dirty="0"/>
          </a:p>
        </p:txBody>
      </p:sp>
      <p:sp>
        <p:nvSpPr>
          <p:cNvPr id="10" name="Shape 8"/>
          <p:cNvSpPr/>
          <p:nvPr/>
        </p:nvSpPr>
        <p:spPr>
          <a:xfrm>
            <a:off x="731520" y="3170682"/>
            <a:ext cx="109728" cy="109728"/>
          </a:xfrm>
          <a:prstGeom prst="rect">
            <a:avLst/>
          </a:prstGeom>
          <a:solidFill>
            <a:srgbClr val="C8A45C"/>
          </a:solidFill>
          <a:ln w="12700">
            <a:solidFill>
              <a:srgbClr val="C8A45C"/>
            </a:solidFill>
            <a:prstDash val="solid"/>
          </a:ln>
        </p:spPr>
      </p:sp>
      <p:sp>
        <p:nvSpPr>
          <p:cNvPr id="11" name="Text 9"/>
          <p:cNvSpPr/>
          <p:nvPr/>
        </p:nvSpPr>
        <p:spPr>
          <a:xfrm>
            <a:off x="1005840" y="3051810"/>
            <a:ext cx="7406640" cy="407670"/>
          </a:xfrm>
          <a:prstGeom prst="rect">
            <a:avLst/>
          </a:prstGeom>
          <a:noFill/>
          <a:ln/>
        </p:spPr>
        <p:txBody>
          <a:bodyPr wrap="square" lIns="0" tIns="0" rIns="0" bIns="0" rtlCol="0" anchor="t"/>
          <a:lstStyle/>
          <a:p>
            <a:pPr algn="just" indent="0" marL="0">
              <a:lnSpc>
                <a:spcPct val="125000"/>
              </a:lnSpc>
              <a:spcAft>
                <a:spcPts val="1400"/>
              </a:spcAft>
              <a:buNone/>
            </a:pPr>
            <a:r>
              <a:rPr lang="en-US" sz="1300" b="1" dirty="0">
                <a:solidFill>
                  <a:srgbClr val="1E3A5F"/>
                </a:solidFill>
                <a:latin typeface="Noto Sans KR" pitchFamily="34" charset="0"/>
                <a:ea typeface="Noto Sans KR" pitchFamily="34" charset="-122"/>
                <a:cs typeface="Noto Sans KR" pitchFamily="34" charset="-120"/>
              </a:rPr>
              <a:t>스토어 페이지는 첫 마케팅 무대</a:t>
            </a:r>
            <a:pPr algn="just" indent="0" marL="0">
              <a:lnSpc>
                <a:spcPct val="125000"/>
              </a:lnSpc>
              <a:spcAft>
                <a:spcPts val="1400"/>
              </a:spcAft>
              <a:buNone/>
            </a:pPr>
            <a:r>
              <a:rPr lang="en-US" sz="1300" dirty="0">
                <a:solidFill>
                  <a:srgbClr val="666666"/>
                </a:solidFill>
                <a:latin typeface="Noto Sans KR" pitchFamily="34" charset="0"/>
                <a:ea typeface="Noto Sans KR" pitchFamily="34" charset="-122"/>
                <a:cs typeface="Noto Sans KR" pitchFamily="34" charset="-120"/>
              </a:rPr>
              <a:t> — 출시 후 꾸미는 전시 공간이 아니다. 트레일러 첫 5초, 태그 우선순위, 캡슐 가독성이 전환을 결정한다.</a:t>
            </a:r>
            <a:endParaRPr lang="en-US" sz="1300" dirty="0"/>
          </a:p>
        </p:txBody>
      </p:sp>
      <p:sp>
        <p:nvSpPr>
          <p:cNvPr id="12" name="Shape 10"/>
          <p:cNvSpPr/>
          <p:nvPr/>
        </p:nvSpPr>
        <p:spPr>
          <a:xfrm>
            <a:off x="731520" y="3761232"/>
            <a:ext cx="109728" cy="109728"/>
          </a:xfrm>
          <a:prstGeom prst="rect">
            <a:avLst/>
          </a:prstGeom>
          <a:solidFill>
            <a:srgbClr val="C8A45C"/>
          </a:solidFill>
          <a:ln w="12700">
            <a:solidFill>
              <a:srgbClr val="C8A45C"/>
            </a:solidFill>
            <a:prstDash val="solid"/>
          </a:ln>
        </p:spPr>
      </p:sp>
      <p:sp>
        <p:nvSpPr>
          <p:cNvPr id="13" name="Text 11"/>
          <p:cNvSpPr/>
          <p:nvPr/>
        </p:nvSpPr>
        <p:spPr>
          <a:xfrm>
            <a:off x="1005840" y="3642360"/>
            <a:ext cx="7406640" cy="407670"/>
          </a:xfrm>
          <a:prstGeom prst="rect">
            <a:avLst/>
          </a:prstGeom>
          <a:noFill/>
          <a:ln/>
        </p:spPr>
        <p:txBody>
          <a:bodyPr wrap="square" lIns="0" tIns="0" rIns="0" bIns="0" rtlCol="0" anchor="t"/>
          <a:lstStyle/>
          <a:p>
            <a:pPr algn="just" indent="0" marL="0">
              <a:lnSpc>
                <a:spcPct val="125000"/>
              </a:lnSpc>
              <a:spcAft>
                <a:spcPts val="1400"/>
              </a:spcAft>
              <a:buNone/>
            </a:pPr>
            <a:r>
              <a:rPr lang="en-US" sz="1300" b="1" dirty="0">
                <a:solidFill>
                  <a:srgbClr val="1E3A5F"/>
                </a:solidFill>
                <a:latin typeface="Noto Sans KR" pitchFamily="34" charset="0"/>
                <a:ea typeface="Noto Sans KR" pitchFamily="34" charset="-122"/>
                <a:cs typeface="Noto Sans KR" pitchFamily="34" charset="-120"/>
              </a:rPr>
              <a:t>출시 전부터 관계 자본을 누적한다</a:t>
            </a:r>
            <a:pPr algn="just" indent="0" marL="0">
              <a:lnSpc>
                <a:spcPct val="125000"/>
              </a:lnSpc>
              <a:spcAft>
                <a:spcPts val="1400"/>
              </a:spcAft>
              <a:buNone/>
            </a:pPr>
            <a:r>
              <a:rPr lang="en-US" sz="1300" dirty="0">
                <a:solidFill>
                  <a:srgbClr val="666666"/>
                </a:solidFill>
                <a:latin typeface="Noto Sans KR" pitchFamily="34" charset="0"/>
                <a:ea typeface="Noto Sans KR" pitchFamily="34" charset="-122"/>
                <a:cs typeface="Noto Sans KR" pitchFamily="34" charset="-120"/>
              </a:rPr>
              <a:t> — 플랫폼·커뮤니티·크리에이터 셋 모두에서 1~2년의 관계가 출시 첫 주 모멘텀으로 환산된다.</a:t>
            </a:r>
            <a:endParaRPr lang="en-US" sz="1300" dirty="0"/>
          </a:p>
        </p:txBody>
      </p:sp>
      <p:sp>
        <p:nvSpPr>
          <p:cNvPr id="14" name="Shape 12"/>
          <p:cNvSpPr/>
          <p:nvPr/>
        </p:nvSpPr>
        <p:spPr>
          <a:xfrm>
            <a:off x="731520" y="4351782"/>
            <a:ext cx="109728" cy="109728"/>
          </a:xfrm>
          <a:prstGeom prst="rect">
            <a:avLst/>
          </a:prstGeom>
          <a:solidFill>
            <a:srgbClr val="C8A45C"/>
          </a:solidFill>
          <a:ln w="12700">
            <a:solidFill>
              <a:srgbClr val="C8A45C"/>
            </a:solidFill>
            <a:prstDash val="solid"/>
          </a:ln>
        </p:spPr>
      </p:sp>
      <p:sp>
        <p:nvSpPr>
          <p:cNvPr id="15" name="Text 13"/>
          <p:cNvSpPr/>
          <p:nvPr/>
        </p:nvSpPr>
        <p:spPr>
          <a:xfrm>
            <a:off x="1005840" y="4232910"/>
            <a:ext cx="7406640" cy="407670"/>
          </a:xfrm>
          <a:prstGeom prst="rect">
            <a:avLst/>
          </a:prstGeom>
          <a:noFill/>
          <a:ln/>
        </p:spPr>
        <p:txBody>
          <a:bodyPr wrap="square" lIns="0" tIns="0" rIns="0" bIns="0" rtlCol="0" anchor="t"/>
          <a:lstStyle/>
          <a:p>
            <a:pPr algn="just" indent="0" marL="0">
              <a:lnSpc>
                <a:spcPct val="125000"/>
              </a:lnSpc>
              <a:spcAft>
                <a:spcPts val="1400"/>
              </a:spcAft>
              <a:buNone/>
            </a:pPr>
            <a:r>
              <a:rPr lang="en-US" sz="1300" b="1" dirty="0">
                <a:solidFill>
                  <a:srgbClr val="1E3A5F"/>
                </a:solidFill>
                <a:latin typeface="Noto Sans KR" pitchFamily="34" charset="0"/>
                <a:ea typeface="Noto Sans KR" pitchFamily="34" charset="-122"/>
                <a:cs typeface="Noto Sans KR" pitchFamily="34" charset="-120"/>
              </a:rPr>
              <a:t>스팀은 두 시장이다</a:t>
            </a:r>
            <a:pPr algn="just" indent="0" marL="0">
              <a:lnSpc>
                <a:spcPct val="125000"/>
              </a:lnSpc>
              <a:spcAft>
                <a:spcPts val="1400"/>
              </a:spcAft>
              <a:buNone/>
            </a:pPr>
            <a:r>
              <a:rPr lang="en-US" sz="1300" dirty="0">
                <a:solidFill>
                  <a:srgbClr val="666666"/>
                </a:solidFill>
                <a:latin typeface="Noto Sans KR" pitchFamily="34" charset="0"/>
                <a:ea typeface="Noto Sans KR" pitchFamily="34" charset="-122"/>
                <a:cs typeface="Noto Sans KR" pitchFamily="34" charset="-120"/>
              </a:rPr>
              <a:t> — 초기 인디($260K 미만)와 레알 스팀의 플레이북이 다르다. 자기 위치를 알아야 다음 수가 보인다.</a:t>
            </a:r>
            <a:endParaRPr lang="en-US" sz="1300" dirty="0"/>
          </a:p>
        </p:txBody>
      </p:sp>
      <p:sp>
        <p:nvSpPr>
          <p:cNvPr id="17" name="Text 14"/>
          <p:cNvSpPr/>
          <p:nvPr/>
        </p:nvSpPr>
        <p:spPr>
          <a:xfrm>
            <a:off x="8046720" y="4777740"/>
            <a:ext cx="822960" cy="228600"/>
          </a:xfrm>
          <a:prstGeom prst="rect">
            <a:avLst/>
          </a:prstGeom>
          <a:noFill/>
          <a:ln/>
        </p:spPr>
        <p:txBody>
          <a:bodyPr wrap="square" lIns="0" tIns="0" rIns="0" bIns="0" rtlCol="0" anchor="ctr"/>
          <a:lstStyle/>
          <a:p>
            <a:pPr algn="r" indent="0" marL="0">
              <a:buNone/>
            </a:pPr>
            <a:r>
              <a:rPr lang="en-US" sz="900" dirty="0">
                <a:solidFill>
                  <a:srgbClr val="999999"/>
                </a:solidFill>
                <a:latin typeface="Consolas" pitchFamily="34" charset="0"/>
                <a:ea typeface="Consolas" pitchFamily="34" charset="-122"/>
                <a:cs typeface="Consolas" pitchFamily="34" charset="-120"/>
              </a:rPr>
              <a:t>14 / 15</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E3A5F"/>
        </a:solidFill>
      </p:bgPr>
    </p:bg>
    <p:spTree>
      <p:nvGrpSpPr>
        <p:cNvPr id="1" name=""/>
        <p:cNvGrpSpPr/>
        <p:nvPr/>
      </p:nvGrpSpPr>
      <p:grpSpPr>
        <a:xfrm>
          <a:off x="0" y="0"/>
          <a:ext cx="0" cy="0"/>
          <a:chOff x="0" y="0"/>
          <a:chExt cx="0" cy="0"/>
        </a:xfrm>
      </p:grpSpPr>
      <p:sp>
        <p:nvSpPr>
          <p:cNvPr id="2" name="Text 0"/>
          <p:cNvSpPr/>
          <p:nvPr/>
        </p:nvSpPr>
        <p:spPr>
          <a:xfrm>
            <a:off x="640080" y="1645920"/>
            <a:ext cx="7863840" cy="1280160"/>
          </a:xfrm>
          <a:prstGeom prst="rect">
            <a:avLst/>
          </a:prstGeom>
          <a:noFill/>
          <a:ln/>
        </p:spPr>
        <p:txBody>
          <a:bodyPr wrap="square" lIns="0" tIns="0" rIns="0" bIns="0" rtlCol="0" anchor="ctr"/>
          <a:lstStyle/>
          <a:p>
            <a:pPr algn="ctr" indent="0" marL="0">
              <a:buNone/>
            </a:pPr>
            <a:r>
              <a:rPr lang="en-US" sz="6000" b="1" dirty="0">
                <a:solidFill>
                  <a:srgbClr val="FFFFFF"/>
                </a:solidFill>
                <a:latin typeface="Noto Sans KR" pitchFamily="34" charset="0"/>
                <a:ea typeface="Noto Sans KR" pitchFamily="34" charset="-122"/>
                <a:cs typeface="Noto Sans KR" pitchFamily="34" charset="-120"/>
              </a:rPr>
              <a:t>Thank You</a:t>
            </a:r>
            <a:endParaRPr lang="en-US" sz="6000" dirty="0"/>
          </a:p>
        </p:txBody>
      </p:sp>
      <p:sp>
        <p:nvSpPr>
          <p:cNvPr id="3" name="Shape 1"/>
          <p:cNvSpPr/>
          <p:nvPr/>
        </p:nvSpPr>
        <p:spPr>
          <a:xfrm>
            <a:off x="4114800" y="3108960"/>
            <a:ext cx="914400" cy="45720"/>
          </a:xfrm>
          <a:prstGeom prst="rect">
            <a:avLst/>
          </a:prstGeom>
          <a:solidFill>
            <a:srgbClr val="C8A45C"/>
          </a:solidFill>
          <a:ln w="12700">
            <a:solidFill>
              <a:srgbClr val="C8A45C"/>
            </a:solidFill>
            <a:prstDash val="solid"/>
          </a:ln>
        </p:spPr>
      </p:sp>
      <p:sp>
        <p:nvSpPr>
          <p:cNvPr id="4" name="Text 2"/>
          <p:cNvSpPr/>
          <p:nvPr/>
        </p:nvSpPr>
        <p:spPr>
          <a:xfrm>
            <a:off x="640080" y="3337560"/>
            <a:ext cx="7863840" cy="457200"/>
          </a:xfrm>
          <a:prstGeom prst="rect">
            <a:avLst/>
          </a:prstGeom>
          <a:noFill/>
          <a:ln/>
        </p:spPr>
        <p:txBody>
          <a:bodyPr wrap="square" lIns="0" tIns="0" rIns="0" bIns="0" rtlCol="0" anchor="t"/>
          <a:lstStyle/>
          <a:p>
            <a:pPr algn="ctr" indent="0" marL="0">
              <a:buNone/>
            </a:pPr>
            <a:r>
              <a:rPr lang="en-US" sz="1600" dirty="0">
                <a:solidFill>
                  <a:srgbClr val="C8CDD4"/>
                </a:solidFill>
                <a:latin typeface="Noto Sans KR" pitchFamily="34" charset="0"/>
                <a:ea typeface="Noto Sans KR" pitchFamily="34" charset="-122"/>
                <a:cs typeface="Noto Sans KR" pitchFamily="34" charset="-120"/>
              </a:rPr>
              <a:t>질문, 피드백, 토론 환영합니다.</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스팀 마케팅 전략</dc:title>
  <dc:subject>PptxGenJS Presentation</dc:subject>
  <dc:creator>Ginza · Game Dev Wiki</dc:creator>
  <cp:lastModifiedBy>Ginza · Game Dev Wiki</cp:lastModifiedBy>
  <cp:revision>1</cp:revision>
  <dcterms:created xsi:type="dcterms:W3CDTF">2026-05-08T07:55:30Z</dcterms:created>
  <dcterms:modified xsi:type="dcterms:W3CDTF">2026-05-08T07:55:30Z</dcterms:modified>
</cp:coreProperties>
</file>